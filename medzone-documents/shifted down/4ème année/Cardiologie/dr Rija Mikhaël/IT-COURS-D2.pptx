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2"/>
  </p:notesMasterIdLst>
  <p:sldIdLst>
    <p:sldId id="333" r:id="rId2"/>
    <p:sldId id="367" r:id="rId3"/>
    <p:sldId id="257" r:id="rId4"/>
    <p:sldId id="366" r:id="rId5"/>
    <p:sldId id="258" r:id="rId6"/>
    <p:sldId id="362" r:id="rId7"/>
    <p:sldId id="307" r:id="rId8"/>
    <p:sldId id="308" r:id="rId9"/>
    <p:sldId id="309" r:id="rId10"/>
    <p:sldId id="313" r:id="rId11"/>
    <p:sldId id="363" r:id="rId12"/>
    <p:sldId id="314" r:id="rId13"/>
    <p:sldId id="337" r:id="rId14"/>
    <p:sldId id="316" r:id="rId15"/>
    <p:sldId id="259" r:id="rId16"/>
    <p:sldId id="260" r:id="rId17"/>
    <p:sldId id="261" r:id="rId18"/>
    <p:sldId id="317" r:id="rId19"/>
    <p:sldId id="361" r:id="rId20"/>
    <p:sldId id="262" r:id="rId21"/>
    <p:sldId id="364" r:id="rId22"/>
    <p:sldId id="365" r:id="rId23"/>
    <p:sldId id="368" r:id="rId24"/>
    <p:sldId id="318" r:id="rId25"/>
    <p:sldId id="264" r:id="rId26"/>
    <p:sldId id="265" r:id="rId27"/>
    <p:sldId id="334" r:id="rId28"/>
    <p:sldId id="319" r:id="rId29"/>
    <p:sldId id="267" r:id="rId30"/>
    <p:sldId id="320" r:id="rId31"/>
    <p:sldId id="268" r:id="rId32"/>
    <p:sldId id="380" r:id="rId33"/>
    <p:sldId id="383" r:id="rId34"/>
    <p:sldId id="270" r:id="rId35"/>
    <p:sldId id="342" r:id="rId36"/>
    <p:sldId id="271" r:id="rId37"/>
    <p:sldId id="340" r:id="rId38"/>
    <p:sldId id="341" r:id="rId39"/>
    <p:sldId id="344" r:id="rId40"/>
    <p:sldId id="273" r:id="rId41"/>
    <p:sldId id="321" r:id="rId42"/>
    <p:sldId id="274" r:id="rId43"/>
    <p:sldId id="323" r:id="rId44"/>
    <p:sldId id="276" r:id="rId45"/>
    <p:sldId id="324" r:id="rId46"/>
    <p:sldId id="325" r:id="rId47"/>
    <p:sldId id="369" r:id="rId48"/>
    <p:sldId id="381" r:id="rId49"/>
    <p:sldId id="371" r:id="rId50"/>
    <p:sldId id="382" r:id="rId51"/>
    <p:sldId id="372" r:id="rId52"/>
    <p:sldId id="327" r:id="rId53"/>
    <p:sldId id="292" r:id="rId54"/>
    <p:sldId id="293" r:id="rId55"/>
    <p:sldId id="328" r:id="rId56"/>
    <p:sldId id="294" r:id="rId57"/>
    <p:sldId id="373" r:id="rId58"/>
    <p:sldId id="329" r:id="rId59"/>
    <p:sldId id="295" r:id="rId60"/>
    <p:sldId id="296" r:id="rId61"/>
    <p:sldId id="374" r:id="rId62"/>
    <p:sldId id="297" r:id="rId63"/>
    <p:sldId id="298" r:id="rId64"/>
    <p:sldId id="375" r:id="rId65"/>
    <p:sldId id="300" r:id="rId66"/>
    <p:sldId id="301" r:id="rId67"/>
    <p:sldId id="376" r:id="rId68"/>
    <p:sldId id="378" r:id="rId69"/>
    <p:sldId id="330" r:id="rId70"/>
    <p:sldId id="379" r:id="rId7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99"/>
    <a:srgbClr val="99FF99"/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9328-9FBD-490B-8BBC-9F7789AE9BF1}" type="datetimeFigureOut">
              <a:rPr lang="fr-FR" smtClean="0"/>
              <a:pPr/>
              <a:t>19/06/2025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451DC-5F89-4C7C-99EC-1B6B38A5F1A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8093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</p:grpSp>
      <p:sp>
        <p:nvSpPr>
          <p:cNvPr id="51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F5BA82-4F67-4072-8996-DC2270B14C4C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0F0A2-1F59-462B-86D4-338930F9D243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B4E02B-5BF0-4EDB-828F-47F5C572A5C6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A8EE09-CE56-481B-A733-DF6C8E49C926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E4339-624A-4290-8712-6A6CD46C88F0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91AF27-BE79-4C8D-A965-D9B44A6C00B5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224C9-037B-4603-8742-6DD0128553DE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2E079D-146E-4D62-896D-74CF55299C0F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smtClean="0"/>
              <a:t>Cliquez sur l'icône pour ajouter une image</a:t>
            </a:r>
            <a:endParaRPr lang="fr-BE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F078B3-45D7-494C-A97D-DA9FCB922803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916429-9C9F-4A0D-A52D-FAAA29886451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3BABE-C3AC-472F-841C-39C59025552E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fr-FR" noProof="0" smtClean="0"/>
              <a:t>Cliquez sur l'icône pour ajouter un graphique</a:t>
            </a:r>
            <a:endParaRPr lang="fr-BE" noProof="0" smtClean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7E3576-FD8D-49A6-9E08-1953172E8143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4099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0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1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2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4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5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</p:grpSp>
      <p:sp>
        <p:nvSpPr>
          <p:cNvPr id="410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fld id="{A714D2E8-CBF2-4113-AA67-E62294802F57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endParaRPr lang="fr-FR"/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sz="quarter"/>
          </p:nvPr>
        </p:nvSpPr>
        <p:spPr>
          <a:xfrm>
            <a:off x="685800" y="764704"/>
            <a:ext cx="7772400" cy="1555750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Insuffisance tricuspide : signes et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sz="quarter" idx="1"/>
          </p:nvPr>
        </p:nvSpPr>
        <p:spPr>
          <a:xfrm>
            <a:off x="1142976" y="4556720"/>
            <a:ext cx="7286676" cy="1752600"/>
          </a:xfrm>
        </p:spPr>
        <p:txBody>
          <a:bodyPr>
            <a:normAutofit fontScale="92500" lnSpcReduction="20000"/>
          </a:bodyPr>
          <a:lstStyle/>
          <a:p>
            <a:r>
              <a:rPr lang="fr-FR" sz="2800" b="1" dirty="0" smtClean="0"/>
              <a:t>Dr </a:t>
            </a:r>
            <a:r>
              <a:rPr lang="fr-FR" sz="2800" b="1" dirty="0" err="1" smtClean="0"/>
              <a:t>Rija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Mikhaël</a:t>
            </a:r>
            <a:r>
              <a:rPr lang="fr-FR" sz="2800" b="1" dirty="0" smtClean="0"/>
              <a:t> </a:t>
            </a:r>
            <a:r>
              <a:rPr lang="fr-FR" sz="2800" b="1" dirty="0" smtClean="0"/>
              <a:t>MIANDRISOA</a:t>
            </a:r>
          </a:p>
          <a:p>
            <a:r>
              <a:rPr lang="fr-FR" sz="2800" b="1" dirty="0" smtClean="0"/>
              <a:t>Cardiologue Interniste</a:t>
            </a:r>
          </a:p>
          <a:p>
            <a:r>
              <a:rPr lang="fr-FR" sz="2800" b="1" dirty="0" smtClean="0"/>
              <a:t> </a:t>
            </a:r>
            <a:endParaRPr lang="fr-FR" sz="2800" b="1" dirty="0" smtClean="0"/>
          </a:p>
          <a:p>
            <a:r>
              <a:rPr lang="fr-FR" sz="2800" b="1" dirty="0" smtClean="0"/>
              <a:t>Professeur </a:t>
            </a:r>
            <a:r>
              <a:rPr lang="fr-FR" sz="2800" b="1" dirty="0" err="1" smtClean="0"/>
              <a:t>Nirina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Rabearivony</a:t>
            </a:r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Pré - </a:t>
            </a:r>
            <a:r>
              <a:rPr lang="fr-FR" sz="3600" b="1" dirty="0" err="1" smtClean="0">
                <a:solidFill>
                  <a:srgbClr val="FFFF00"/>
                </a:solidFill>
                <a:effectLst/>
              </a:rPr>
              <a:t>recquis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Anatomie cardio-vasculaire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Séméiologie cardio-vasculaire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21571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Objectifs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Décrire les signes d’une insuffisance tricuspide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Poser le diagnostic d’une insuffisance tricuspide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>
                <a:solidFill>
                  <a:srgbClr val="FFFF99"/>
                </a:solidFill>
              </a:rPr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9377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  <a:effectLst/>
              </a:rPr>
              <a:t>I.1 Définition </a:t>
            </a:r>
          </a:p>
          <a:p>
            <a:endParaRPr lang="fr-FR" sz="2400" b="1" dirty="0" smtClean="0">
              <a:effectLst/>
            </a:endParaRPr>
          </a:p>
          <a:p>
            <a:endParaRPr lang="fr-FR" sz="2400" b="1" dirty="0" smtClean="0">
              <a:effectLst/>
            </a:endParaRPr>
          </a:p>
          <a:p>
            <a:pPr>
              <a:buNone/>
            </a:pPr>
            <a:r>
              <a:rPr lang="fr-FR" sz="2400" b="1" dirty="0" smtClean="0">
                <a:effectLst/>
              </a:rPr>
              <a:t>I.2 Intérêts</a:t>
            </a:r>
          </a:p>
          <a:p>
            <a:endParaRPr lang="fr-FR" sz="2400" b="1" dirty="0" smtClean="0">
              <a:effectLst/>
            </a:endParaRPr>
          </a:p>
          <a:p>
            <a:endParaRPr lang="fr-FR" sz="2400" b="1" dirty="0" smtClean="0">
              <a:effectLst/>
            </a:endParaRPr>
          </a:p>
          <a:p>
            <a:pPr>
              <a:buNone/>
            </a:pPr>
            <a:r>
              <a:rPr lang="fr-FR" sz="2400" b="1" dirty="0" smtClean="0">
                <a:effectLst/>
              </a:rPr>
              <a:t>I.3 Physiopathologie</a:t>
            </a:r>
            <a:endParaRPr lang="fr-FR" sz="2400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I.1 Définition 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2400" b="1" dirty="0" smtClean="0"/>
          </a:p>
          <a:p>
            <a:pPr marL="0" indent="0">
              <a:buNone/>
            </a:pPr>
            <a:endParaRPr lang="fr-FR" sz="2400" b="1" dirty="0" smtClean="0"/>
          </a:p>
          <a:p>
            <a:pPr marL="0" indent="0"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Insuffisance tricuspide (IT) : </a:t>
            </a:r>
            <a:r>
              <a:rPr lang="fr-FR" sz="2400" b="1" dirty="0"/>
              <a:t>régurgitation  </a:t>
            </a:r>
            <a:r>
              <a:rPr lang="fr-FR" sz="2400" b="1" dirty="0" err="1"/>
              <a:t>ventriculo</a:t>
            </a:r>
            <a:r>
              <a:rPr lang="fr-FR" sz="2400" b="1" dirty="0"/>
              <a:t> - auriculaire </a:t>
            </a:r>
            <a:r>
              <a:rPr lang="fr-FR" sz="2400" b="1" dirty="0" smtClean="0"/>
              <a:t>droite au moment de la systole</a:t>
            </a:r>
            <a:endParaRPr lang="fr-FR" sz="2400" b="1" dirty="0"/>
          </a:p>
          <a:p>
            <a:pPr marL="0" lvl="0" indent="0">
              <a:buNone/>
            </a:pPr>
            <a:endParaRPr lang="fr-FR" sz="2400" b="1" dirty="0" smtClean="0"/>
          </a:p>
          <a:p>
            <a:pPr lvl="0"/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6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09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/>
              <a:t>I.1 Définition </a:t>
            </a:r>
          </a:p>
          <a:p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I.2 Intérêts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I.3 Physiopathologie</a:t>
            </a:r>
          </a:p>
          <a:p>
            <a:endParaRPr lang="fr-FR" sz="2400" b="1" dirty="0" smtClean="0"/>
          </a:p>
          <a:p>
            <a:endParaRPr lang="fr-FR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7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I.2 Intérêts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530725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 smtClean="0"/>
              <a:t>Fréquente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 smtClean="0"/>
              <a:t>A un impact sur la survie à long terme des patients quelque soit le type de cardiopathie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8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I.1 Définition 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I.2 Intérêts</a:t>
            </a:r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 Physiopathologie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9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Physiopathologie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I.3.1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Classification </a:t>
            </a:r>
            <a:r>
              <a:rPr lang="fr-FR" sz="2400" b="1" dirty="0">
                <a:solidFill>
                  <a:srgbClr val="FFFF99"/>
                </a:solidFill>
                <a:effectLst/>
              </a:rPr>
              <a:t>selon les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lésions</a:t>
            </a:r>
          </a:p>
          <a:p>
            <a:endParaRPr lang="fr-FR" sz="2400" b="1" dirty="0" smtClean="0">
              <a:solidFill>
                <a:srgbClr val="FFFF99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Atteinte valvulaire</a:t>
            </a:r>
          </a:p>
          <a:p>
            <a:pPr lvl="2">
              <a:buFont typeface="Wingdings" pitchFamily="2" charset="2"/>
              <a:buChar char="Ø"/>
            </a:pPr>
            <a:r>
              <a:rPr lang="fr-FR" b="1" dirty="0"/>
              <a:t>p</a:t>
            </a:r>
            <a:r>
              <a:rPr lang="fr-FR" b="1" dirty="0" smtClean="0"/>
              <a:t>erforation, </a:t>
            </a:r>
            <a:r>
              <a:rPr lang="fr-FR" b="1" dirty="0" smtClean="0"/>
              <a:t>rétraction</a:t>
            </a:r>
          </a:p>
          <a:p>
            <a:pPr lvl="2">
              <a:buFont typeface="Wingdings" pitchFamily="2" charset="2"/>
              <a:buChar char="Ø"/>
            </a:pPr>
            <a:r>
              <a:rPr lang="fr-FR" b="1" dirty="0" smtClean="0"/>
              <a:t>Congénitale  </a:t>
            </a:r>
            <a:r>
              <a:rPr lang="fr-FR" b="1" smtClean="0"/>
              <a:t>par fixation </a:t>
            </a:r>
            <a:r>
              <a:rPr lang="fr-FR" b="1" dirty="0" smtClean="0"/>
              <a:t>sur le septum de la valve tricuspide</a:t>
            </a:r>
            <a:endParaRPr lang="fr-FR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Atteinte sous-valvulaire</a:t>
            </a:r>
          </a:p>
          <a:p>
            <a:pPr lvl="2">
              <a:buFont typeface="Wingdings" pitchFamily="2" charset="2"/>
              <a:buChar char="Ø"/>
            </a:pPr>
            <a:r>
              <a:rPr lang="fr-FR" b="1" dirty="0"/>
              <a:t>r</a:t>
            </a:r>
            <a:r>
              <a:rPr lang="fr-FR" b="1" dirty="0" smtClean="0"/>
              <a:t>upture ou élongation de cordages</a:t>
            </a:r>
          </a:p>
          <a:p>
            <a:pPr lvl="2">
              <a:buFont typeface="Wingdings" pitchFamily="2" charset="2"/>
              <a:buChar char="Ø"/>
            </a:pPr>
            <a:r>
              <a:rPr lang="fr-FR" b="1" dirty="0" smtClean="0"/>
              <a:t>dysfonctionnement ou rupture de pilier</a:t>
            </a: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 </a:t>
            </a:r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10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Physiopathologie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I.3.1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Classification </a:t>
            </a:r>
            <a:r>
              <a:rPr lang="fr-FR" sz="2400" b="1" dirty="0">
                <a:solidFill>
                  <a:srgbClr val="FFFF99"/>
                </a:solidFill>
                <a:effectLst/>
              </a:rPr>
              <a:t>selon les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lésions</a:t>
            </a:r>
          </a:p>
          <a:p>
            <a:pPr marL="0" lvl="0" indent="0"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 lvl="0"/>
            <a:endParaRPr lang="fr-FR" sz="2400" b="1" dirty="0" smtClean="0">
              <a:solidFill>
                <a:srgbClr val="FFFF99"/>
              </a:solidFill>
            </a:endParaRPr>
          </a:p>
          <a:p>
            <a:pPr lvl="0"/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Atteinte ventriculaire</a:t>
            </a:r>
          </a:p>
          <a:p>
            <a:pPr lvl="2">
              <a:buFont typeface="Wingdings" pitchFamily="2" charset="2"/>
              <a:buChar char="Ø"/>
            </a:pPr>
            <a:r>
              <a:rPr lang="fr-FR" b="1" dirty="0" smtClean="0"/>
              <a:t>dilatation du ventricule droit (VD) et de l’anneau </a:t>
            </a:r>
            <a:r>
              <a:rPr lang="fr-FR" b="1" dirty="0" err="1" smtClean="0"/>
              <a:t>tricuspidien</a:t>
            </a:r>
            <a:r>
              <a:rPr lang="fr-FR" b="1" dirty="0" smtClean="0"/>
              <a:t> dans l’IT fonctionnelle</a:t>
            </a:r>
          </a:p>
          <a:p>
            <a:pPr lvl="2">
              <a:buFont typeface="Wingdings" pitchFamily="2" charset="2"/>
              <a:buChar char="Ø"/>
            </a:pPr>
            <a:r>
              <a:rPr lang="fr-FR" b="1" dirty="0"/>
              <a:t>d</a:t>
            </a:r>
            <a:r>
              <a:rPr lang="fr-FR" b="1" dirty="0" smtClean="0"/>
              <a:t>yskinésie pariétale ischémique</a:t>
            </a:r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11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043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I.3 Physiopathologie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98675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I.3.1 Classification selon les lésions </a:t>
            </a:r>
          </a:p>
          <a:p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I.3.2 Conséquences 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12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b="1" dirty="0" smtClean="0">
                <a:solidFill>
                  <a:srgbClr val="FFFF00"/>
                </a:solidFill>
                <a:effectLst/>
              </a:rPr>
              <a:t>I.3.2 Conséquences  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a/ Retentissement sur </a:t>
            </a:r>
            <a:r>
              <a:rPr lang="fr-FR" sz="2400" b="1" dirty="0" smtClean="0">
                <a:solidFill>
                  <a:srgbClr val="FFFF99"/>
                </a:solidFill>
              </a:rPr>
              <a:t>l’oreillette droite (OD)</a:t>
            </a: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Augmentation du volume intra OD </a:t>
            </a:r>
            <a:endParaRPr lang="fr-FR" sz="2400" b="1" dirty="0" smtClean="0"/>
          </a:p>
          <a:p>
            <a:pPr marL="0" indent="0"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b/ Retentissement sur le VD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Dilatation (augmentation du volume sanguin)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c/ Retentissement sur le cœur droit en général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HTAP pré-capillaire ou mixte par élévations des pressions dans les veines pulmonaires et/ou dans l’OG </a:t>
            </a:r>
            <a:r>
              <a:rPr lang="fr-FR" sz="2400" b="1" dirty="0" smtClean="0">
                <a:sym typeface="Wingdings" pitchFamily="2" charset="2"/>
              </a:rPr>
              <a:t> </a:t>
            </a:r>
            <a:r>
              <a:rPr lang="fr-FR" sz="2400" b="1" dirty="0" smtClean="0"/>
              <a:t>dilatation et dysfonction du VD</a:t>
            </a:r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0563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 Signes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 </a:t>
            </a:r>
            <a:r>
              <a:rPr lang="fr-FR" sz="2400" b="1" dirty="0">
                <a:solidFill>
                  <a:srgbClr val="FFFF99"/>
                </a:solidFill>
              </a:rPr>
              <a:t>Type de </a:t>
            </a:r>
            <a:r>
              <a:rPr lang="fr-FR" sz="2400" b="1" dirty="0" smtClean="0">
                <a:solidFill>
                  <a:srgbClr val="FFFF99"/>
                </a:solidFill>
              </a:rPr>
              <a:t>description (TDD)</a:t>
            </a:r>
            <a:r>
              <a:rPr lang="fr-FR" sz="2400" b="1" dirty="0">
                <a:solidFill>
                  <a:srgbClr val="FFFF99"/>
                </a:solidFill>
              </a:rPr>
              <a:t> : </a:t>
            </a:r>
            <a:r>
              <a:rPr lang="fr-FR" sz="2400" b="1" dirty="0" smtClean="0">
                <a:solidFill>
                  <a:srgbClr val="FFFF99"/>
                </a:solidFill>
              </a:rPr>
              <a:t>IT fonctionnelle sur cœur pulmonaire chronique</a:t>
            </a:r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II.2 Formes cliniques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39825"/>
          </a:xfrm>
        </p:spPr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/>
            </a:r>
            <a:br>
              <a:rPr lang="fr-FR" sz="3600" b="1" dirty="0" smtClean="0">
                <a:solidFill>
                  <a:srgbClr val="FFFF00"/>
                </a:solidFill>
                <a:effectLst/>
              </a:rPr>
            </a:br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: IT fonctionnelle sur cœur pulmonaire chronique</a:t>
            </a:r>
            <a:r>
              <a:rPr lang="fr-FR" sz="3600" b="1" dirty="0">
                <a:solidFill>
                  <a:srgbClr val="FFFF00"/>
                </a:solidFill>
              </a:rPr>
              <a:t/>
            </a:r>
            <a:br>
              <a:rPr lang="fr-FR" sz="3600" b="1" dirty="0">
                <a:solidFill>
                  <a:srgbClr val="FFFF00"/>
                </a:solidFill>
              </a:rPr>
            </a:b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26667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II.1.1  </a:t>
            </a:r>
            <a:r>
              <a:rPr lang="fr-FR" sz="2400" b="1" dirty="0">
                <a:solidFill>
                  <a:srgbClr val="FFFF99"/>
                </a:solidFill>
              </a:rPr>
              <a:t>Circonstances de </a:t>
            </a:r>
            <a:r>
              <a:rPr lang="fr-FR" sz="2400" b="1" dirty="0" smtClean="0">
                <a:solidFill>
                  <a:srgbClr val="FFFF99"/>
                </a:solidFill>
              </a:rPr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complications</a:t>
            </a:r>
            <a:r>
              <a:rPr lang="fr-FR" sz="2400" b="1" dirty="0"/>
              <a:t>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II.1.1  Circonstances de découverte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686800" cy="4530725"/>
          </a:xfrm>
        </p:spPr>
        <p:txBody>
          <a:bodyPr>
            <a:noAutofit/>
          </a:bodyPr>
          <a:lstStyle/>
          <a:p>
            <a:pPr marL="457200" indent="-457200">
              <a:buAutoNum type="alphaLcPeriod"/>
            </a:pPr>
            <a:r>
              <a:rPr lang="fr-FR" sz="2400" b="1" dirty="0" smtClean="0">
                <a:solidFill>
                  <a:srgbClr val="FFFF99"/>
                </a:solidFill>
              </a:rPr>
              <a:t>Fortuite </a:t>
            </a:r>
            <a:r>
              <a:rPr lang="fr-FR" sz="2400" b="1" dirty="0" smtClean="0"/>
              <a:t>: examen systématique</a:t>
            </a:r>
          </a:p>
          <a:p>
            <a:pPr marL="457200" indent="-457200">
              <a:buAutoNum type="alphaLcPeriod"/>
            </a:pPr>
            <a:endParaRPr lang="fr-FR" sz="2400" b="1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Symptômes </a:t>
            </a:r>
            <a:r>
              <a:rPr lang="fr-FR" sz="2400" b="1" dirty="0">
                <a:solidFill>
                  <a:srgbClr val="FFFF99"/>
                </a:solidFill>
              </a:rPr>
              <a:t>d’évolution progressive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Dyspnée d’effort, asthénie</a:t>
            </a: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Hépatalgie d’effort, œdèmes des membres inférieurs</a:t>
            </a: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Hémoptysies</a:t>
            </a:r>
          </a:p>
          <a:p>
            <a:pPr lvl="1"/>
            <a:endParaRPr lang="fr-FR" sz="2400" b="1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c. Symptomatologie </a:t>
            </a:r>
            <a:r>
              <a:rPr lang="fr-FR" sz="2400" b="1" dirty="0">
                <a:solidFill>
                  <a:srgbClr val="FFFF99"/>
                </a:solidFill>
              </a:rPr>
              <a:t>aiguë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Signes d’insuffisance cardiaque droite 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TDD: </a:t>
            </a:r>
            <a:r>
              <a:rPr lang="fr-FR" sz="3600" b="1" dirty="0">
                <a:solidFill>
                  <a:srgbClr val="FFFF00"/>
                </a:solidFill>
                <a:effectLst/>
              </a:rPr>
              <a:t>IT fonctionnelle sur cœur pulmonaire chronique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II.1.2 </a:t>
            </a:r>
            <a:r>
              <a:rPr lang="fr-FR" sz="2400" b="1" dirty="0">
                <a:solidFill>
                  <a:srgbClr val="FFFF99"/>
                </a:solidFill>
              </a:rPr>
              <a:t>Examen </a:t>
            </a:r>
            <a:r>
              <a:rPr lang="fr-FR" sz="2400" b="1" dirty="0" smtClean="0">
                <a:solidFill>
                  <a:srgbClr val="FFFF99"/>
                </a:solidFill>
              </a:rPr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</a:t>
            </a:r>
            <a:r>
              <a:rPr lang="fr-FR" sz="2400" b="1" dirty="0"/>
              <a:t>complications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a. Interrogatoire, rechercher :</a:t>
            </a:r>
          </a:p>
          <a:p>
            <a:pPr marL="457200" indent="-457200">
              <a:buAutoNum type="alphaLcPeriod"/>
            </a:pP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Facteurs de risque cardio-vasculaire et </a:t>
            </a:r>
            <a:r>
              <a:rPr lang="fr-FR" sz="2400" b="1" dirty="0" smtClean="0"/>
              <a:t>thromboemboliques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Cardiopathie connue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Pathologie pulmonaire chronique connue: asthme, BPCO, embolie pulmonaire…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80529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(2)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Inspection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c</a:t>
            </a:r>
            <a:r>
              <a:rPr lang="fr-FR" b="1" dirty="0" smtClean="0"/>
              <a:t>hoc de pointe dévié à droite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t</a:t>
            </a:r>
            <a:r>
              <a:rPr lang="fr-FR" b="1" dirty="0" smtClean="0"/>
              <a:t>urgescence des veines jugulaires</a:t>
            </a:r>
          </a:p>
          <a:p>
            <a:pPr marL="914400" lvl="2" indent="0">
              <a:buNone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a</a:t>
            </a:r>
            <a:r>
              <a:rPr lang="fr-FR" b="1" dirty="0" smtClean="0"/>
              <a:t>scite et œdèmes des </a:t>
            </a:r>
            <a:r>
              <a:rPr lang="fr-FR" b="1" dirty="0"/>
              <a:t>m</a:t>
            </a:r>
            <a:r>
              <a:rPr lang="fr-FR" b="1" dirty="0" smtClean="0"/>
              <a:t>embres inférieurs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(3)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Palpation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c</a:t>
            </a:r>
            <a:r>
              <a:rPr lang="fr-FR" b="1" dirty="0" smtClean="0"/>
              <a:t>hoc de pointe dévié à droite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r</a:t>
            </a:r>
            <a:r>
              <a:rPr lang="fr-FR" b="1" dirty="0" smtClean="0"/>
              <a:t>eflux hépato-jugulaire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h</a:t>
            </a:r>
            <a:r>
              <a:rPr lang="fr-FR" b="1" dirty="0" smtClean="0"/>
              <a:t>épatomégalie sensible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ascite, œdèmes des </a:t>
            </a:r>
            <a:r>
              <a:rPr lang="fr-FR" b="1" dirty="0"/>
              <a:t>m</a:t>
            </a:r>
            <a:r>
              <a:rPr lang="fr-FR" b="1" dirty="0" smtClean="0"/>
              <a:t>embres inférieurs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43069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(4)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Auscultation </a:t>
            </a:r>
            <a:endParaRPr lang="fr-FR" sz="2400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/>
              <a:t>s</a:t>
            </a:r>
            <a:r>
              <a:rPr lang="fr-FR" b="1" dirty="0" smtClean="0"/>
              <a:t>ouffle </a:t>
            </a:r>
            <a:r>
              <a:rPr lang="fr-FR" b="1" dirty="0" err="1" smtClean="0"/>
              <a:t>holosystolique</a:t>
            </a:r>
            <a:r>
              <a:rPr lang="fr-FR" b="1" dirty="0" smtClean="0"/>
              <a:t>, timbre doux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/>
              <a:t>m</a:t>
            </a:r>
            <a:r>
              <a:rPr lang="fr-FR" b="1" dirty="0" smtClean="0"/>
              <a:t>aximal au foyer xiphoïdien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/>
              <a:t>a</a:t>
            </a:r>
            <a:r>
              <a:rPr lang="fr-FR" b="1" dirty="0" smtClean="0"/>
              <a:t>ugmente à l’inspiration profonde (signe de </a:t>
            </a:r>
            <a:r>
              <a:rPr lang="fr-FR" b="1" dirty="0" err="1" smtClean="0"/>
              <a:t>Carvallo</a:t>
            </a:r>
            <a:r>
              <a:rPr lang="fr-FR" b="1" dirty="0" smtClean="0"/>
              <a:t>)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/>
              <a:t>i</a:t>
            </a:r>
            <a:r>
              <a:rPr lang="fr-FR" b="1" dirty="0" smtClean="0"/>
              <a:t>ntensité variable</a:t>
            </a:r>
            <a:r>
              <a:rPr lang="fr-FR" b="1" dirty="0"/>
              <a:t>, non corrélée à l’importance de la fuite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51699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(5)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Auscultation </a:t>
            </a: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é</a:t>
            </a:r>
            <a:r>
              <a:rPr lang="fr-FR" b="1" dirty="0" smtClean="0"/>
              <a:t>clat </a:t>
            </a:r>
            <a:r>
              <a:rPr lang="fr-FR" b="1" dirty="0"/>
              <a:t>B2 foyer pulmonaire (HTAP</a:t>
            </a:r>
            <a:r>
              <a:rPr lang="fr-FR" b="1" dirty="0" smtClean="0"/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râles sibilants ou râles bronchiques dans les deux champs pulmonaires</a:t>
            </a: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945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Type de description : IT fonctionnelle chronique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II.1.3 </a:t>
            </a:r>
            <a:r>
              <a:rPr lang="fr-FR" sz="2400" b="1" dirty="0">
                <a:solidFill>
                  <a:srgbClr val="FFFF99"/>
                </a:solidFill>
              </a:rPr>
              <a:t>Examens </a:t>
            </a:r>
            <a:r>
              <a:rPr lang="fr-FR" sz="2400" b="1" dirty="0" smtClean="0">
                <a:solidFill>
                  <a:srgbClr val="FFFF99"/>
                </a:solidFill>
              </a:rPr>
              <a:t>paracliniques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</a:t>
            </a:r>
            <a:r>
              <a:rPr lang="fr-FR" sz="2400" b="1" dirty="0"/>
              <a:t>complications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>
                <a:solidFill>
                  <a:srgbClr val="FFFF99"/>
                </a:solidFill>
              </a:rPr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d) Exploration hémodynamique et </a:t>
            </a:r>
            <a:r>
              <a:rPr lang="fr-FR" sz="2400" b="1" dirty="0" err="1" smtClean="0"/>
              <a:t>angiographique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a) Radiographie thoracique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85720" y="1600200"/>
            <a:ext cx="5000660" cy="453072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1. </a:t>
            </a:r>
            <a:r>
              <a:rPr lang="fr-FR" sz="2400" b="1" dirty="0" smtClean="0">
                <a:solidFill>
                  <a:srgbClr val="FFFF99"/>
                </a:solidFill>
              </a:rPr>
              <a:t>Normale </a:t>
            </a:r>
            <a:r>
              <a:rPr lang="fr-FR" sz="2400" b="1" dirty="0" smtClean="0"/>
              <a:t>(si fuites </a:t>
            </a:r>
            <a:r>
              <a:rPr lang="fr-FR" sz="2400" b="1" dirty="0"/>
              <a:t>minimes)</a:t>
            </a:r>
          </a:p>
          <a:p>
            <a:pPr>
              <a:buNone/>
            </a:pPr>
            <a:r>
              <a:rPr lang="fr-FR" sz="2400" b="1" dirty="0"/>
              <a:t> </a:t>
            </a:r>
            <a:endParaRPr lang="fr-FR" sz="2400" b="1" dirty="0" smtClean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2</a:t>
            </a:r>
            <a:r>
              <a:rPr lang="fr-FR" sz="2400" b="1" dirty="0" smtClean="0">
                <a:solidFill>
                  <a:srgbClr val="FFFF99"/>
                </a:solidFill>
              </a:rPr>
              <a:t>. Incidence de face: </a:t>
            </a:r>
            <a:r>
              <a:rPr lang="fr-FR" sz="2400" b="1" dirty="0">
                <a:solidFill>
                  <a:srgbClr val="FFFF99"/>
                </a:solidFill>
              </a:rPr>
              <a:t>d</a:t>
            </a:r>
            <a:r>
              <a:rPr lang="fr-FR" sz="2400" b="1" dirty="0" smtClean="0">
                <a:solidFill>
                  <a:srgbClr val="FFFF99"/>
                </a:solidFill>
              </a:rPr>
              <a:t>ilatation OD et AP</a:t>
            </a: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/>
              <a:t>Dilatation de l’OD : arc inférieur droit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/>
              <a:t>Dilatation </a:t>
            </a:r>
            <a:r>
              <a:rPr lang="fr-FR" b="1" dirty="0"/>
              <a:t>A</a:t>
            </a:r>
            <a:r>
              <a:rPr lang="fr-FR" b="1" dirty="0" smtClean="0"/>
              <a:t>P : arc moyen gauche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61578" y="1772816"/>
            <a:ext cx="4146926" cy="4078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a) Radiographie thoracique (2)</a:t>
            </a:r>
            <a:endParaRPr lang="fr-FR" sz="3600" dirty="0"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85720" y="1600200"/>
            <a:ext cx="518637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3</a:t>
            </a:r>
            <a:r>
              <a:rPr lang="fr-FR" sz="2400" b="1" dirty="0" smtClean="0">
                <a:solidFill>
                  <a:srgbClr val="FFFF99"/>
                </a:solidFill>
              </a:rPr>
              <a:t>. Recherche retentissement pulmonaire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E</a:t>
            </a:r>
            <a:r>
              <a:rPr lang="fr-FR" b="1" dirty="0" smtClean="0"/>
              <a:t>paississement des espaces </a:t>
            </a:r>
            <a:r>
              <a:rPr lang="fr-FR" b="1" dirty="0" err="1" smtClean="0"/>
              <a:t>peri</a:t>
            </a:r>
            <a:r>
              <a:rPr lang="fr-FR" b="1" dirty="0" smtClean="0"/>
              <a:t>-bronchiques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 lvl="1"/>
            <a:endParaRPr lang="fr-FR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S</a:t>
            </a:r>
            <a:r>
              <a:rPr lang="fr-FR" b="1" dirty="0" smtClean="0"/>
              <a:t>urcharge des cavités droites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27</a:t>
            </a:fld>
            <a:endParaRPr lang="fr-FR"/>
          </a:p>
        </p:txBody>
      </p:sp>
      <p:pic>
        <p:nvPicPr>
          <p:cNvPr id="7" name="Espace réservé du contenu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0" y="1879367"/>
            <a:ext cx="3698498" cy="3637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b) </a:t>
            </a:r>
            <a:r>
              <a:rPr lang="fr-FR" sz="2400" b="1" dirty="0" smtClean="0">
                <a:solidFill>
                  <a:srgbClr val="FFFF99"/>
                </a:solidFill>
              </a:rPr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d) Exploration hémodynamique et </a:t>
            </a:r>
            <a:r>
              <a:rPr lang="fr-FR" sz="2400" b="1" dirty="0" err="1"/>
              <a:t>angiographique</a:t>
            </a: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b) Électrocardiogramme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/>
          <a:lstStyle/>
          <a:p>
            <a:pPr marL="514350" indent="-514350">
              <a:buNone/>
            </a:pPr>
            <a:r>
              <a:rPr lang="fr-FR" sz="2400" b="1" dirty="0" smtClean="0"/>
              <a:t>1. IT modérées: normal</a:t>
            </a:r>
          </a:p>
          <a:p>
            <a:pPr marL="0" indent="0">
              <a:buNone/>
            </a:pPr>
            <a:endParaRPr lang="fr-FR" sz="2400" b="1" dirty="0"/>
          </a:p>
          <a:p>
            <a:pPr marL="514350" indent="-514350">
              <a:buAutoNum type="arabicPeriod"/>
            </a:pPr>
            <a:endParaRPr lang="fr-FR" sz="2400" b="1" dirty="0"/>
          </a:p>
          <a:p>
            <a:pPr>
              <a:buNone/>
            </a:pPr>
            <a:r>
              <a:rPr lang="fr-FR" sz="2400" b="1" dirty="0"/>
              <a:t>2. </a:t>
            </a:r>
            <a:r>
              <a:rPr lang="fr-FR" sz="2400" b="1" dirty="0" smtClean="0"/>
              <a:t>Formes évoluées</a:t>
            </a: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HAD : ondes P amples</a:t>
            </a:r>
          </a:p>
          <a:p>
            <a:pPr lvl="1"/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HVD : persistance de l’onde S en V5-V6, axe dévié à droite</a:t>
            </a:r>
            <a:endParaRPr lang="fr-FR" sz="2400" b="1" dirty="0"/>
          </a:p>
          <a:p>
            <a:pPr lvl="1"/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c) </a:t>
            </a:r>
            <a:r>
              <a:rPr lang="fr-FR" sz="2400" b="1" dirty="0" smtClean="0">
                <a:solidFill>
                  <a:srgbClr val="FFFF99"/>
                </a:solidFill>
              </a:rPr>
              <a:t>Échocardiographie </a:t>
            </a:r>
            <a:r>
              <a:rPr lang="fr-FR" sz="2400" b="1" dirty="0">
                <a:solidFill>
                  <a:srgbClr val="FFFF99"/>
                </a:solidFill>
              </a:rPr>
              <a:t>et Doppler </a:t>
            </a:r>
            <a:r>
              <a:rPr lang="fr-FR" sz="2400" b="1" dirty="0" smtClean="0">
                <a:solidFill>
                  <a:srgbClr val="FFFF99"/>
                </a:solidFill>
              </a:rPr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d) Exploration hémodynamique et </a:t>
            </a:r>
            <a:r>
              <a:rPr lang="fr-FR" sz="2400" b="1" dirty="0" err="1"/>
              <a:t>angiographique</a:t>
            </a: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c) Échocardiogramme et Doppler cardiaque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1. Signes </a:t>
            </a:r>
            <a:r>
              <a:rPr lang="fr-FR" sz="2400" b="1" dirty="0">
                <a:solidFill>
                  <a:srgbClr val="FFFF99"/>
                </a:solidFill>
              </a:rPr>
              <a:t>échographiques </a:t>
            </a:r>
            <a:r>
              <a:rPr lang="fr-FR" sz="2400" b="1" dirty="0" smtClean="0">
                <a:solidFill>
                  <a:srgbClr val="FFFF99"/>
                </a:solidFill>
              </a:rPr>
              <a:t>d’IT</a:t>
            </a:r>
          </a:p>
          <a:p>
            <a:pPr marL="514350" indent="-514350">
              <a:buAutoNum type="arabicPeriod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marL="514350" indent="-514350">
              <a:buAutoNum type="arabicPeriod"/>
            </a:pPr>
            <a:endParaRPr lang="fr-FR" sz="2400" dirty="0"/>
          </a:p>
          <a:p>
            <a:pPr>
              <a:buNone/>
            </a:pPr>
            <a:r>
              <a:rPr lang="fr-FR" sz="2400" b="1" dirty="0"/>
              <a:t>2. Doppler </a:t>
            </a:r>
            <a:r>
              <a:rPr lang="fr-FR" sz="2400" b="1" dirty="0" smtClean="0"/>
              <a:t>cardiaque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/>
              <a:t>3. </a:t>
            </a:r>
            <a:r>
              <a:rPr lang="fr-FR" sz="2400" b="1" dirty="0" smtClean="0"/>
              <a:t>Indications </a:t>
            </a:r>
            <a:r>
              <a:rPr lang="fr-FR" sz="2400" b="1" dirty="0"/>
              <a:t>de </a:t>
            </a:r>
            <a:r>
              <a:rPr lang="fr-FR" sz="2400" b="1" dirty="0" smtClean="0"/>
              <a:t>l’échocardiographie doppler </a:t>
            </a:r>
            <a:r>
              <a:rPr lang="fr-FR" sz="2400" b="1" dirty="0"/>
              <a:t>par voie </a:t>
            </a:r>
            <a:r>
              <a:rPr lang="fr-FR" sz="2400" b="1" dirty="0" err="1" smtClean="0"/>
              <a:t>transoesophagienne</a:t>
            </a:r>
            <a:r>
              <a:rPr lang="fr-FR" sz="2400" b="1" dirty="0" smtClean="0"/>
              <a:t> (ETO)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401080" cy="1139825"/>
          </a:xfrm>
        </p:spPr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1. Signes échographiques d’IT (1)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2852936"/>
            <a:ext cx="4114800" cy="48965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a) Signes indirects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TM (temps-mouvement)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400" b="1" dirty="0"/>
              <a:t>diamètres VD augmentés et épaisseur </a:t>
            </a:r>
            <a:r>
              <a:rPr lang="fr-FR" sz="2400" b="1" dirty="0" smtClean="0"/>
              <a:t>pariétale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marL="914400" lvl="2" indent="0">
              <a:buNone/>
            </a:pPr>
            <a:endParaRPr lang="fr-FR" sz="2400" b="1" dirty="0"/>
          </a:p>
          <a:p>
            <a:pPr lvl="1"/>
            <a:endParaRPr lang="fr-FR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32</a:t>
            </a:fld>
            <a:endParaRPr lang="fr-FR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48200" y="2351086"/>
            <a:ext cx="4413548" cy="3310161"/>
          </a:xfrm>
        </p:spPr>
      </p:pic>
    </p:spTree>
    <p:extLst>
      <p:ext uri="{BB962C8B-B14F-4D97-AF65-F5344CB8AC3E}">
        <p14:creationId xmlns:p14="http://schemas.microsoft.com/office/powerpoint/2010/main" xmlns="" val="15907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401080" cy="1139825"/>
          </a:xfrm>
        </p:spPr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1. Signes échographiques d’IT (1)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3528" y="1556792"/>
            <a:ext cx="4248472" cy="48965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a) Signes indirects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/>
              <a:t>BD (bidimensionnelle</a:t>
            </a:r>
            <a:r>
              <a:rPr lang="fr-FR" b="1" dirty="0"/>
              <a:t>): évalue: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400" b="1" dirty="0" smtClean="0"/>
              <a:t>les </a:t>
            </a:r>
            <a:r>
              <a:rPr lang="fr-FR" sz="2400" b="1" dirty="0"/>
              <a:t>surfaces OD, VD par planimétrie et anneau </a:t>
            </a:r>
            <a:r>
              <a:rPr lang="fr-FR" sz="2400" b="1" dirty="0" smtClean="0"/>
              <a:t>tricuspide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400" b="1" dirty="0"/>
              <a:t>la cinétique segmentaire</a:t>
            </a:r>
          </a:p>
          <a:p>
            <a:pPr marL="914400" lvl="2" indent="0">
              <a:buNone/>
            </a:pPr>
            <a:endParaRPr lang="fr-FR" sz="2400" b="1" dirty="0"/>
          </a:p>
          <a:p>
            <a:pPr lvl="1"/>
            <a:endParaRPr lang="fr-FR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33</a:t>
            </a:fld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38293" y="2132856"/>
            <a:ext cx="4526195" cy="312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45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401080" cy="1139825"/>
          </a:xfrm>
        </p:spPr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1. Signes échographiques d’IT (2)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84784"/>
            <a:ext cx="41148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b) Signes </a:t>
            </a:r>
            <a:r>
              <a:rPr lang="fr-FR" sz="2400" b="1" dirty="0" smtClean="0">
                <a:solidFill>
                  <a:srgbClr val="FFFF99"/>
                </a:solidFill>
              </a:rPr>
              <a:t>directs : </a:t>
            </a:r>
            <a:r>
              <a:rPr lang="fr-FR" sz="2400" b="1" dirty="0" smtClean="0"/>
              <a:t>en </a:t>
            </a:r>
            <a:r>
              <a:rPr lang="fr-FR" sz="2400" b="1" dirty="0"/>
              <a:t>faveur </a:t>
            </a:r>
            <a:r>
              <a:rPr lang="fr-FR" sz="2400" b="1" dirty="0" smtClean="0"/>
              <a:t>de l’étiologie </a:t>
            </a:r>
            <a:r>
              <a:rPr lang="fr-FR" sz="2400" b="1" dirty="0"/>
              <a:t>et du mécanisme </a:t>
            </a:r>
            <a:r>
              <a:rPr lang="fr-FR" sz="2400" b="1" dirty="0" smtClean="0"/>
              <a:t>:</a:t>
            </a:r>
          </a:p>
          <a:p>
            <a:pPr>
              <a:buNone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/>
              <a:t>Défaut de coaptation des deux feuillets valvulaires par dilatation du VD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C</a:t>
            </a:r>
            <a:r>
              <a:rPr lang="fr-FR" b="1" dirty="0" smtClean="0"/>
              <a:t>aractéristique </a:t>
            </a:r>
            <a:r>
              <a:rPr lang="fr-FR" b="1" dirty="0"/>
              <a:t>de la </a:t>
            </a:r>
            <a:r>
              <a:rPr lang="fr-FR" b="1" dirty="0" smtClean="0"/>
              <a:t>fuite : </a:t>
            </a:r>
            <a:r>
              <a:rPr lang="fr-FR" b="1" dirty="0"/>
              <a:t>turbulent ou laminaire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b="1" dirty="0"/>
          </a:p>
          <a:p>
            <a:pPr lvl="1"/>
            <a:endParaRPr lang="fr-FR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34</a:t>
            </a:fld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27984" y="2412737"/>
            <a:ext cx="4382770" cy="3176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c) Échocardiogramme et Doppler cardiaque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fr-FR" sz="2400" b="1" dirty="0" smtClean="0"/>
              <a:t>Signes </a:t>
            </a:r>
            <a:r>
              <a:rPr lang="fr-FR" sz="2400" b="1" dirty="0"/>
              <a:t>échographiques </a:t>
            </a:r>
            <a:r>
              <a:rPr lang="fr-FR" sz="2400" b="1" dirty="0" smtClean="0"/>
              <a:t>d’IT</a:t>
            </a:r>
          </a:p>
          <a:p>
            <a:pPr marL="514350" indent="-514350">
              <a:buAutoNum type="arabicPeriod"/>
            </a:pPr>
            <a:endParaRPr lang="fr-FR" sz="2400" b="1" dirty="0" smtClean="0"/>
          </a:p>
          <a:p>
            <a:pPr marL="514350" indent="-514350">
              <a:buAutoNum type="arabicPeriod"/>
            </a:pPr>
            <a:endParaRPr lang="fr-FR" sz="2400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2. Doppler </a:t>
            </a:r>
            <a:r>
              <a:rPr lang="fr-FR" sz="2400" b="1" dirty="0" smtClean="0">
                <a:solidFill>
                  <a:srgbClr val="FFFF99"/>
                </a:solidFill>
              </a:rPr>
              <a:t>cardiaque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/>
              <a:t>3. </a:t>
            </a:r>
            <a:r>
              <a:rPr lang="fr-FR" sz="2400" b="1" dirty="0" smtClean="0"/>
              <a:t>Indications </a:t>
            </a:r>
            <a:r>
              <a:rPr lang="fr-FR" sz="2400" b="1" dirty="0"/>
              <a:t>de </a:t>
            </a:r>
            <a:r>
              <a:rPr lang="fr-FR" sz="2400" b="1" dirty="0" smtClean="0"/>
              <a:t>l’échocardiographie doppler </a:t>
            </a:r>
            <a:r>
              <a:rPr lang="fr-FR" sz="2400" b="1" dirty="0"/>
              <a:t>par voie </a:t>
            </a:r>
            <a:r>
              <a:rPr lang="fr-FR" sz="2400" b="1" dirty="0" err="1"/>
              <a:t>transoesophagienne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2. Doppler cardiaque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2354659"/>
            <a:ext cx="4038600" cy="4530725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a) Doppler </a:t>
            </a:r>
            <a:r>
              <a:rPr lang="fr-FR" sz="2400" b="1" dirty="0">
                <a:solidFill>
                  <a:srgbClr val="FFFF99"/>
                </a:solidFill>
              </a:rPr>
              <a:t>continu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/>
              <a:t>Visualise </a:t>
            </a:r>
            <a:r>
              <a:rPr lang="fr-FR" b="1" dirty="0"/>
              <a:t>l’enveloppe du flux systolique de régurgitation </a:t>
            </a:r>
            <a:r>
              <a:rPr lang="fr-FR" b="1" dirty="0" smtClean="0"/>
              <a:t>tricuspide </a:t>
            </a:r>
            <a:r>
              <a:rPr lang="fr-FR" b="1" dirty="0"/>
              <a:t>à haute </a:t>
            </a:r>
            <a:r>
              <a:rPr lang="fr-FR" b="1" dirty="0" smtClean="0"/>
              <a:t>vitesse</a:t>
            </a:r>
            <a:endParaRPr lang="fr-FR" b="1" dirty="0"/>
          </a:p>
          <a:p>
            <a:pPr>
              <a:buNone/>
            </a:pP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1556894"/>
            <a:ext cx="3384375" cy="4697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2. Doppler cardiaque (2)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b) Doppler tissulaire</a:t>
            </a:r>
          </a:p>
          <a:p>
            <a:pPr marL="617537" lvl="1" indent="-342900">
              <a:buFont typeface="Arial" panose="020B0604020202020204" pitchFamily="34" charset="0"/>
              <a:buChar char="•"/>
            </a:pPr>
            <a:r>
              <a:rPr lang="fr-FR" b="1" dirty="0" smtClean="0"/>
              <a:t>Évalue la fonction systolique du VD</a:t>
            </a:r>
          </a:p>
          <a:p>
            <a:pPr marL="457200" lvl="1" indent="-182563"/>
            <a:endParaRPr lang="fr-FR" b="1" dirty="0" smtClean="0"/>
          </a:p>
          <a:p>
            <a:pPr>
              <a:buNone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37</a:t>
            </a:fld>
            <a:endParaRPr lang="fr-FR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96431" y="1916832"/>
            <a:ext cx="4782777" cy="42140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2. Doppler cardiaque (3)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2210643"/>
            <a:ext cx="4757742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c) Doppler couleur</a:t>
            </a:r>
          </a:p>
          <a:p>
            <a:pPr marL="525462" lvl="1" indent="-342900">
              <a:buFont typeface="Arial" panose="020B0604020202020204" pitchFamily="34" charset="0"/>
              <a:buChar char="•"/>
            </a:pPr>
            <a:r>
              <a:rPr lang="fr-FR" b="1" dirty="0" smtClean="0"/>
              <a:t>Visualise flux régurgitant(s), précise leur(s) diamètre(s) d’origine et leur(s) extension(s) dans le VD, leur </a:t>
            </a:r>
            <a:r>
              <a:rPr lang="fr-FR" b="1" dirty="0"/>
              <a:t> </a:t>
            </a:r>
            <a:r>
              <a:rPr lang="fr-FR" b="1" dirty="0" smtClean="0"/>
              <a:t>siège (centrale, excentrique), écoulement (turbulent ou laminaire)</a:t>
            </a:r>
            <a:endParaRPr lang="fr-FR" dirty="0" smtClean="0"/>
          </a:p>
          <a:p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97" y="1600200"/>
            <a:ext cx="3333896" cy="46816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c) Échocardiographie et Doppler cardiaque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138635"/>
            <a:ext cx="8229600" cy="4530725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fr-FR" sz="2400" b="1" dirty="0" smtClean="0"/>
              <a:t>1. Signes </a:t>
            </a:r>
            <a:r>
              <a:rPr lang="fr-FR" sz="2400" b="1" dirty="0"/>
              <a:t>échographiques </a:t>
            </a:r>
            <a:r>
              <a:rPr lang="fr-FR" sz="2400" b="1" dirty="0" smtClean="0"/>
              <a:t>d’IT</a:t>
            </a:r>
          </a:p>
          <a:p>
            <a:pPr marL="514350" indent="-514350">
              <a:buAutoNum type="arabicPeriod"/>
            </a:pPr>
            <a:endParaRPr lang="fr-FR" sz="2400" dirty="0" smtClean="0"/>
          </a:p>
          <a:p>
            <a:pPr marL="514350" indent="-514350">
              <a:buAutoNum type="arabicPeriod"/>
            </a:pPr>
            <a:endParaRPr lang="fr-FR" sz="2400" dirty="0"/>
          </a:p>
          <a:p>
            <a:pPr>
              <a:buNone/>
            </a:pPr>
            <a:r>
              <a:rPr lang="fr-FR" sz="2400" b="1" dirty="0"/>
              <a:t>2. Doppler </a:t>
            </a:r>
            <a:r>
              <a:rPr lang="fr-FR" sz="2400" b="1" dirty="0" smtClean="0"/>
              <a:t>cardiaque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3</a:t>
            </a:r>
            <a:r>
              <a:rPr lang="fr-FR" sz="2400" b="1" dirty="0" smtClean="0">
                <a:solidFill>
                  <a:srgbClr val="FFFF99"/>
                </a:solidFill>
              </a:rPr>
              <a:t>. </a:t>
            </a:r>
            <a:r>
              <a:rPr lang="fr-FR" sz="2400" b="1" dirty="0">
                <a:solidFill>
                  <a:srgbClr val="FFFF99"/>
                </a:solidFill>
              </a:rPr>
              <a:t>Indications de l’</a:t>
            </a:r>
            <a:r>
              <a:rPr lang="fr-FR" sz="2400" b="1" dirty="0" err="1">
                <a:solidFill>
                  <a:srgbClr val="FFFF99"/>
                </a:solidFill>
              </a:rPr>
              <a:t>échodoppler</a:t>
            </a:r>
            <a:r>
              <a:rPr lang="fr-FR" sz="2400" b="1" dirty="0">
                <a:solidFill>
                  <a:srgbClr val="FFFF99"/>
                </a:solidFill>
              </a:rPr>
              <a:t> par voie </a:t>
            </a:r>
            <a:r>
              <a:rPr lang="fr-FR" sz="2400" b="1" dirty="0" err="1">
                <a:solidFill>
                  <a:srgbClr val="FFFF99"/>
                </a:solidFill>
              </a:rPr>
              <a:t>transoesophagienne</a:t>
            </a:r>
            <a:endParaRPr lang="fr-FR" sz="2400" dirty="0">
              <a:solidFill>
                <a:srgbClr val="FFFF99"/>
              </a:solidFill>
            </a:endParaRP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3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. Indications de l’ETO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b="1" dirty="0" smtClean="0"/>
          </a:p>
          <a:p>
            <a:pPr>
              <a:lnSpc>
                <a:spcPct val="150000"/>
              </a:lnSpc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Évaluation précise </a:t>
            </a:r>
            <a:r>
              <a:rPr lang="fr-FR" sz="2400" b="1" dirty="0"/>
              <a:t>mécanisme de la fuite, de son retentissement et de ses </a:t>
            </a:r>
            <a:r>
              <a:rPr lang="fr-FR" sz="2400" b="1" dirty="0" smtClean="0"/>
              <a:t>complications avant de poser une indication chirurgicale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d) Exploration hémodynamique et </a:t>
            </a:r>
            <a:r>
              <a:rPr lang="fr-FR" sz="2400" b="1" dirty="0" err="1">
                <a:solidFill>
                  <a:srgbClr val="FFFF99"/>
                </a:solidFill>
              </a:rPr>
              <a:t>angiographique</a:t>
            </a: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d) Exploration hémodynamique et </a:t>
            </a:r>
            <a:r>
              <a:rPr lang="fr-FR" sz="3600" b="1" dirty="0" err="1" smtClean="0">
                <a:solidFill>
                  <a:srgbClr val="FFFF00"/>
                </a:solidFill>
                <a:effectLst/>
              </a:rPr>
              <a:t>angiographique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125" indent="-365125">
              <a:buFont typeface="Wingdings" pitchFamily="2" charset="2"/>
              <a:buChar char="Ø"/>
            </a:pPr>
            <a:endParaRPr lang="fr-FR" sz="2400" b="1" dirty="0" smtClean="0"/>
          </a:p>
          <a:p>
            <a:pPr marL="365125" indent="-365125">
              <a:buFont typeface="Wingdings" pitchFamily="2" charset="2"/>
              <a:buChar char="Ø"/>
            </a:pPr>
            <a:r>
              <a:rPr lang="fr-FR" sz="2400" b="1" dirty="0" smtClean="0"/>
              <a:t>Cathétérismes droit : évaluation de la pression pulmonaire, type d’HTAP pré-capillaire ou post capillaire </a:t>
            </a:r>
          </a:p>
          <a:p>
            <a:pPr marL="365125" indent="-365125">
              <a:buFont typeface="Wingdings" pitchFamily="2" charset="2"/>
              <a:buChar char="Ø"/>
            </a:pPr>
            <a:endParaRPr lang="fr-FR" sz="2400" b="1" dirty="0"/>
          </a:p>
          <a:p>
            <a:pPr marL="365125" indent="-365125">
              <a:buFont typeface="Wingdings" pitchFamily="2" charset="2"/>
              <a:buChar char="Ø"/>
            </a:pPr>
            <a:endParaRPr lang="fr-FR" sz="2400" b="1" dirty="0" smtClean="0"/>
          </a:p>
          <a:p>
            <a:pPr marL="365125" indent="-365125">
              <a:buNone/>
            </a:pPr>
            <a:endParaRPr lang="fr-FR" sz="2400" dirty="0"/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Angiographie VD : évalue l’importance de la fuite </a:t>
            </a:r>
            <a:r>
              <a:rPr lang="fr-FR" sz="2400" b="1" dirty="0" err="1" smtClean="0"/>
              <a:t>ventriculo</a:t>
            </a:r>
            <a:r>
              <a:rPr lang="fr-FR" sz="2400" b="1" dirty="0" smtClean="0"/>
              <a:t> auriculaire droite</a:t>
            </a:r>
          </a:p>
          <a:p>
            <a:pPr>
              <a:buFont typeface="Wingdings" pitchFamily="2" charset="2"/>
              <a:buChar char="Ø"/>
            </a:pPr>
            <a:endParaRPr lang="fr-FR" sz="2400" b="1" dirty="0"/>
          </a:p>
          <a:p>
            <a:pPr>
              <a:buFont typeface="Wingdings" pitchFamily="2" charset="2"/>
              <a:buChar char="Ø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Coronarographie : évaluation de l’état des coronaires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</a:t>
            </a:r>
            <a:r>
              <a:rPr lang="fr-FR" sz="3600" b="1" dirty="0">
                <a:solidFill>
                  <a:srgbClr val="FFFF00"/>
                </a:solidFill>
                <a:effectLst/>
              </a:rPr>
              <a:t>: IT fonctionnelle sur cœur pulmonaire chronique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II.1.4 Evolution et complications communes</a:t>
            </a:r>
            <a:endParaRPr lang="fr-FR" sz="2400" dirty="0">
              <a:solidFill>
                <a:srgbClr val="FFFF99"/>
              </a:solidFill>
            </a:endParaRP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II.1.4 Evolution et complications communes 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Insuffisance cardiaque droite puis </a:t>
            </a:r>
            <a:r>
              <a:rPr lang="fr-FR" sz="2400" b="1" dirty="0" smtClean="0"/>
              <a:t>globale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marL="0" indent="0">
              <a:buNone/>
            </a:pPr>
            <a:r>
              <a:rPr lang="fr-FR" sz="2400" dirty="0" smtClean="0">
                <a:sym typeface="Wingdings" pitchFamily="2" charset="2"/>
              </a:rPr>
              <a:t>	</a:t>
            </a: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Greffe bactérienne (endocardite infectieuse)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dirty="0"/>
          </a:p>
          <a:p>
            <a:pPr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 Signes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II.1 </a:t>
            </a:r>
            <a:r>
              <a:rPr lang="fr-FR" sz="2400" b="1" dirty="0"/>
              <a:t>Type de description : </a:t>
            </a:r>
            <a:r>
              <a:rPr lang="fr-FR" sz="2400" b="1" dirty="0" smtClean="0"/>
              <a:t>IT fonctionnelle sur cœur pulmonaire chronique</a:t>
            </a:r>
            <a:endParaRPr lang="fr-FR" sz="2400" dirty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 Formes cliniques</a:t>
            </a:r>
            <a:endParaRPr lang="fr-FR" sz="2400" b="1" dirty="0">
              <a:solidFill>
                <a:srgbClr val="FFFF99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(1)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II.2.1 </a:t>
            </a:r>
            <a:r>
              <a:rPr lang="fr-FR" sz="2400" b="1" dirty="0"/>
              <a:t>Formes selon </a:t>
            </a:r>
            <a:r>
              <a:rPr lang="fr-FR" sz="2400" b="1" dirty="0" smtClean="0"/>
              <a:t>l’atteinte valvulaire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II.2.2 Formes selon le terrain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II.2.3 </a:t>
            </a:r>
            <a:r>
              <a:rPr lang="fr-FR" sz="2400" b="1" dirty="0"/>
              <a:t>F</a:t>
            </a:r>
            <a:r>
              <a:rPr lang="fr-FR" sz="2400" b="1" dirty="0" smtClean="0"/>
              <a:t>orme selon l’évolution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(2)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II.2.1 </a:t>
            </a:r>
            <a:r>
              <a:rPr lang="fr-FR" sz="2400" b="1" dirty="0">
                <a:solidFill>
                  <a:srgbClr val="FFFF99"/>
                </a:solidFill>
              </a:rPr>
              <a:t>Formes selon </a:t>
            </a:r>
            <a:r>
              <a:rPr lang="fr-FR" sz="2400" b="1" dirty="0" smtClean="0">
                <a:solidFill>
                  <a:srgbClr val="FFFF99"/>
                </a:solidFill>
              </a:rPr>
              <a:t>l’atteinte valvulaire</a:t>
            </a: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IT fonctionnelle : secondaire à une HTAP par valvulopathies gauches (mitrale</a:t>
            </a:r>
            <a:r>
              <a:rPr lang="fr-FR" sz="2400" b="1" dirty="0"/>
              <a:t> </a:t>
            </a:r>
            <a:r>
              <a:rPr lang="fr-FR" sz="2400" b="1" dirty="0" smtClean="0"/>
              <a:t>et/ou aortique), cardiopathie ischémique ou autres types de cardiopathie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65741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(3)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II.2.1 </a:t>
            </a:r>
            <a:r>
              <a:rPr lang="fr-FR" sz="2400" b="1" dirty="0">
                <a:solidFill>
                  <a:srgbClr val="FFFF99"/>
                </a:solidFill>
              </a:rPr>
              <a:t>Formes selon </a:t>
            </a:r>
            <a:r>
              <a:rPr lang="fr-FR" sz="2400" b="1" dirty="0" smtClean="0">
                <a:solidFill>
                  <a:srgbClr val="FFFF99"/>
                </a:solidFill>
              </a:rPr>
              <a:t>l’atteinte valvulaire</a:t>
            </a: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IT organique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cardiopathie congénitale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p</a:t>
            </a:r>
            <a:r>
              <a:rPr lang="fr-FR" b="1" dirty="0" smtClean="0"/>
              <a:t>ost RAA, endocardite infectieuse (toxicomane), matériaux implantables (sondes de PM)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t</a:t>
            </a:r>
            <a:r>
              <a:rPr lang="fr-FR" b="1" dirty="0" smtClean="0"/>
              <a:t>raumatique: traumatisme thoracique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p</a:t>
            </a:r>
            <a:r>
              <a:rPr lang="fr-FR" b="1" dirty="0" smtClean="0"/>
              <a:t>rolapsus valvulaire (syndrome de </a:t>
            </a:r>
            <a:r>
              <a:rPr lang="fr-FR" b="1" dirty="0" err="1" smtClean="0"/>
              <a:t>Marfan</a:t>
            </a:r>
            <a:r>
              <a:rPr lang="fr-FR" b="1" dirty="0" smtClean="0"/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i</a:t>
            </a:r>
            <a:r>
              <a:rPr lang="fr-FR" b="1" dirty="0" smtClean="0"/>
              <a:t>nfarctus du VD par nécrose du pilier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tumeurs cardiaques, syndrome carcinoïdes: rares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593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(4)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II.2.2 </a:t>
            </a:r>
            <a:r>
              <a:rPr lang="fr-FR" sz="2400" b="1" dirty="0">
                <a:solidFill>
                  <a:srgbClr val="FFFF99"/>
                </a:solidFill>
              </a:rPr>
              <a:t>Formes selon </a:t>
            </a:r>
            <a:r>
              <a:rPr lang="fr-FR" sz="2400" b="1" dirty="0" smtClean="0">
                <a:solidFill>
                  <a:srgbClr val="FFFF99"/>
                </a:solidFill>
              </a:rPr>
              <a:t>le terrain</a:t>
            </a:r>
            <a:endParaRPr lang="fr-FR" sz="2400" b="1" dirty="0" smtClean="0"/>
          </a:p>
          <a:p>
            <a:pPr marL="457200" lvl="1" indent="0">
              <a:buNone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chez </a:t>
            </a:r>
            <a:r>
              <a:rPr lang="fr-FR" sz="2400" b="1" dirty="0"/>
              <a:t>le sujet âgé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c</a:t>
            </a:r>
            <a:r>
              <a:rPr lang="fr-FR" b="1" dirty="0" smtClean="0"/>
              <a:t>alcifications valves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1"/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chez </a:t>
            </a:r>
            <a:r>
              <a:rPr lang="fr-FR" sz="2400" b="1" dirty="0"/>
              <a:t>le sujet jeune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err="1"/>
              <a:t>p</a:t>
            </a:r>
            <a:r>
              <a:rPr lang="fr-FR" b="1" dirty="0" err="1" smtClean="0"/>
              <a:t>olyvalvulopathie</a:t>
            </a:r>
            <a:r>
              <a:rPr lang="fr-FR" b="1" dirty="0" smtClean="0"/>
              <a:t> post rhumatismale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endocardite du cœur droit (toxicomanie, sondes de Pace maker ou défibrillateur implantable)</a:t>
            </a:r>
            <a:endParaRPr lang="fr-FR" b="1" dirty="0"/>
          </a:p>
          <a:p>
            <a:pPr lvl="1"/>
            <a:endParaRPr lang="fr-FR" sz="2400" b="1" dirty="0"/>
          </a:p>
          <a:p>
            <a:pPr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99616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(5)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307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Pace maker double chambre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50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3648" y="2105472"/>
            <a:ext cx="6336704" cy="460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144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(6)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II.2.3 </a:t>
            </a:r>
            <a:r>
              <a:rPr lang="fr-FR" sz="2400" b="1" dirty="0">
                <a:solidFill>
                  <a:srgbClr val="FFFF99"/>
                </a:solidFill>
              </a:rPr>
              <a:t>Formes selon </a:t>
            </a:r>
            <a:r>
              <a:rPr lang="fr-FR" sz="2400" b="1" dirty="0" smtClean="0">
                <a:solidFill>
                  <a:srgbClr val="FFFF99"/>
                </a:solidFill>
              </a:rPr>
              <a:t>l’évolution</a:t>
            </a:r>
            <a:endParaRPr lang="fr-FR" sz="2400" b="1" dirty="0" smtClean="0"/>
          </a:p>
          <a:p>
            <a:pPr marL="457200" lvl="1" indent="0">
              <a:buNone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IT aigüe</a:t>
            </a:r>
            <a:endParaRPr lang="fr-FR" sz="2400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 endocardite du cœur droit avec volumineuse végétation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i</a:t>
            </a:r>
            <a:r>
              <a:rPr lang="fr-FR" b="1" dirty="0" smtClean="0"/>
              <a:t>nfarctus du myocarde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traumatique</a:t>
            </a:r>
          </a:p>
          <a:p>
            <a:pPr marL="457200" lvl="1" indent="0">
              <a:buNone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IT chronique d’évolution progressive</a:t>
            </a:r>
            <a:endParaRPr lang="fr-FR" sz="2400" b="1" dirty="0"/>
          </a:p>
          <a:p>
            <a:pPr lvl="1"/>
            <a:endParaRPr lang="fr-FR" sz="2400" b="1" dirty="0"/>
          </a:p>
          <a:p>
            <a:pPr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11052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62571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 Diagnostic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III.1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positif</a:t>
            </a:r>
          </a:p>
          <a:p>
            <a:pPr>
              <a:buNone/>
            </a:pPr>
            <a:endParaRPr lang="fr-FR" sz="2400" b="1" dirty="0" smtClean="0">
              <a:solidFill>
                <a:srgbClr val="00FF00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</a:t>
            </a:r>
            <a:r>
              <a:rPr lang="fr-FR" sz="2400" b="1" dirty="0" smtClean="0"/>
              <a:t>étiologique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III.4 Diagnostic de gravité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III.1 Diagnostic positif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S</a:t>
            </a:r>
            <a:r>
              <a:rPr lang="fr-FR" sz="2400" b="1" dirty="0" smtClean="0"/>
              <a:t>e </a:t>
            </a:r>
            <a:r>
              <a:rPr lang="fr-FR" sz="2400" b="1" dirty="0"/>
              <a:t>pose devant la </a:t>
            </a:r>
            <a:r>
              <a:rPr lang="fr-FR" sz="2400" b="1" dirty="0" smtClean="0"/>
              <a:t>clinique</a:t>
            </a:r>
          </a:p>
          <a:p>
            <a:pPr lvl="1">
              <a:buFont typeface="Wingdings" pitchFamily="2" charset="2"/>
              <a:buChar char="Ø"/>
            </a:pPr>
            <a:r>
              <a:rPr lang="fr-FR" sz="2400" b="1" dirty="0"/>
              <a:t>S</a:t>
            </a:r>
            <a:r>
              <a:rPr lang="fr-FR" sz="2400" b="1" dirty="0" smtClean="0"/>
              <a:t>ouffle systolique foyer </a:t>
            </a:r>
            <a:r>
              <a:rPr lang="fr-FR" sz="2400" b="1" dirty="0" err="1" smtClean="0"/>
              <a:t>tricuspidien</a:t>
            </a:r>
            <a:r>
              <a:rPr lang="fr-FR" sz="2400" b="1" dirty="0" smtClean="0"/>
              <a:t>, majoré par l’inspiration profonde</a:t>
            </a:r>
          </a:p>
          <a:p>
            <a:pPr>
              <a:buNone/>
            </a:pPr>
            <a:endParaRPr lang="fr-FR" sz="2400" b="1" dirty="0" smtClean="0"/>
          </a:p>
          <a:p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C</a:t>
            </a:r>
            <a:r>
              <a:rPr lang="fr-FR" sz="2400" b="1" dirty="0" smtClean="0"/>
              <a:t>onfirmé </a:t>
            </a:r>
            <a:r>
              <a:rPr lang="fr-FR" sz="2400" b="1" dirty="0"/>
              <a:t>par la paraclinique </a:t>
            </a:r>
            <a:endParaRPr lang="fr-FR" sz="2400" b="1" dirty="0" smtClean="0"/>
          </a:p>
          <a:p>
            <a:pPr lvl="1">
              <a:buFont typeface="Wingdings" pitchFamily="2" charset="2"/>
              <a:buChar char="Ø"/>
            </a:pPr>
            <a:r>
              <a:rPr lang="fr-FR" sz="2400" b="1" dirty="0" smtClean="0"/>
              <a:t>Echocardiographie </a:t>
            </a:r>
            <a:r>
              <a:rPr lang="fr-FR" sz="2400" b="1" dirty="0"/>
              <a:t>+ </a:t>
            </a:r>
            <a:r>
              <a:rPr lang="fr-FR" sz="2400" b="1" dirty="0" smtClean="0"/>
              <a:t>doppler : flux de régurgitation VD </a:t>
            </a:r>
            <a:r>
              <a:rPr lang="fr-FR" sz="2400" b="1" dirty="0" smtClean="0">
                <a:sym typeface="Wingdings" pitchFamily="2" charset="2"/>
              </a:rPr>
              <a:t> OD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>
              <a:solidFill>
                <a:srgbClr val="00FF00"/>
              </a:solidFill>
            </a:endParaRPr>
          </a:p>
          <a:p>
            <a:pPr>
              <a:buNone/>
            </a:pPr>
            <a:endParaRPr lang="fr-FR" sz="2400" dirty="0">
              <a:solidFill>
                <a:srgbClr val="00FF00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III.2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différentiel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étiologique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III.2 Diagnostic différentiel (1)</a:t>
            </a:r>
            <a:endParaRPr lang="fr-FR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FFFF99"/>
                </a:solidFill>
              </a:rPr>
              <a:t>Problème </a:t>
            </a:r>
            <a:r>
              <a:rPr lang="fr-FR" sz="2400" b="1" dirty="0" smtClean="0">
                <a:solidFill>
                  <a:srgbClr val="FFFF99"/>
                </a:solidFill>
              </a:rPr>
              <a:t>interprétation </a:t>
            </a:r>
            <a:r>
              <a:rPr lang="fr-FR" sz="2400" b="1" dirty="0">
                <a:solidFill>
                  <a:srgbClr val="FFFF99"/>
                </a:solidFill>
              </a:rPr>
              <a:t>souffle </a:t>
            </a:r>
            <a:r>
              <a:rPr lang="fr-FR" sz="2400" b="1" dirty="0" smtClean="0">
                <a:solidFill>
                  <a:srgbClr val="FFFF99"/>
                </a:solidFill>
              </a:rPr>
              <a:t>systolique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I</a:t>
            </a:r>
            <a:r>
              <a:rPr lang="fr-FR" sz="2400" b="1" dirty="0" smtClean="0"/>
              <a:t>nsuffisance mitrale : souffle systolique en jet de vapeur, maximum à l’apex, irradiation axillaire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R</a:t>
            </a:r>
            <a:r>
              <a:rPr lang="fr-FR" sz="2400" b="1" dirty="0" smtClean="0"/>
              <a:t>étrécissement aortique : </a:t>
            </a:r>
            <a:r>
              <a:rPr lang="fr-FR" sz="2400" b="1" dirty="0"/>
              <a:t>souffle </a:t>
            </a:r>
            <a:r>
              <a:rPr lang="fr-FR" sz="2400" b="1" dirty="0" err="1"/>
              <a:t>éjectionnel</a:t>
            </a:r>
            <a:r>
              <a:rPr lang="fr-FR" sz="2400" b="1" dirty="0"/>
              <a:t>, </a:t>
            </a:r>
            <a:r>
              <a:rPr lang="fr-FR" sz="2400" b="1" dirty="0" err="1"/>
              <a:t>mésosystolique</a:t>
            </a:r>
            <a:r>
              <a:rPr lang="fr-FR" sz="2400" b="1" dirty="0"/>
              <a:t>, augmentant après les diastoles </a:t>
            </a:r>
            <a:r>
              <a:rPr lang="fr-FR" sz="2400" b="1" dirty="0" smtClean="0"/>
              <a:t>longues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III.2 Diagnostic différentiel (2)</a:t>
            </a:r>
            <a:endParaRPr lang="fr-FR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FFFF99"/>
                </a:solidFill>
              </a:rPr>
              <a:t>Problème </a:t>
            </a:r>
            <a:r>
              <a:rPr lang="fr-FR" sz="2400" b="1" dirty="0" smtClean="0">
                <a:solidFill>
                  <a:srgbClr val="FFFF99"/>
                </a:solidFill>
              </a:rPr>
              <a:t>interprétation </a:t>
            </a:r>
            <a:r>
              <a:rPr lang="fr-FR" sz="2400" b="1" dirty="0">
                <a:solidFill>
                  <a:srgbClr val="FFFF99"/>
                </a:solidFill>
              </a:rPr>
              <a:t>souffle </a:t>
            </a:r>
            <a:r>
              <a:rPr lang="fr-FR" sz="2400" b="1" dirty="0" smtClean="0">
                <a:solidFill>
                  <a:srgbClr val="FFFF99"/>
                </a:solidFill>
              </a:rPr>
              <a:t>systolique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FFFF99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C</a:t>
            </a:r>
            <a:r>
              <a:rPr lang="fr-FR" sz="2400" b="1" dirty="0" smtClean="0"/>
              <a:t>ardiomyopathie </a:t>
            </a:r>
            <a:r>
              <a:rPr lang="fr-FR" sz="2400" b="1" dirty="0"/>
              <a:t>obstructive : souffle </a:t>
            </a:r>
            <a:r>
              <a:rPr lang="fr-FR" sz="2400" b="1" dirty="0" err="1"/>
              <a:t>mésosystolique</a:t>
            </a:r>
            <a:r>
              <a:rPr lang="fr-FR" sz="2400" b="1" dirty="0"/>
              <a:t> n’irradiant pas dans </a:t>
            </a:r>
            <a:r>
              <a:rPr lang="fr-FR" sz="2400" b="1" dirty="0" smtClean="0"/>
              <a:t>l’aisselle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C</a:t>
            </a:r>
            <a:r>
              <a:rPr lang="fr-FR" sz="2400" b="1" dirty="0" smtClean="0"/>
              <a:t>ommunication inter ventriculaire</a:t>
            </a:r>
          </a:p>
          <a:p>
            <a:pPr lvl="0"/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     </a:t>
            </a:r>
            <a:r>
              <a:rPr lang="fr-FR" sz="2400" b="1" dirty="0" smtClean="0">
                <a:solidFill>
                  <a:srgbClr val="FFFF00"/>
                </a:solidFill>
              </a:rPr>
              <a:t>Dans tous les cas: échocardiographie doppler +++</a:t>
            </a:r>
            <a:endParaRPr lang="fr-FR" sz="2400" b="1" dirty="0">
              <a:solidFill>
                <a:srgbClr val="FFFF00"/>
              </a:solidFill>
            </a:endParaRPr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36026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III.3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étiologique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/>
              <a:t>III.4 Diagnostic de gravité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 Diagnostic étiologique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III.3.1 </a:t>
            </a:r>
            <a:r>
              <a:rPr lang="fr-FR" sz="2400" b="1" dirty="0"/>
              <a:t>IT </a:t>
            </a:r>
            <a:r>
              <a:rPr lang="fr-FR" sz="2400" b="1" dirty="0" smtClean="0"/>
              <a:t>fonctionnelles</a:t>
            </a:r>
            <a:endParaRPr lang="fr-FR" sz="2400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III.3.2 Rhumatisme </a:t>
            </a:r>
            <a:r>
              <a:rPr lang="fr-FR" sz="2400" b="1" dirty="0"/>
              <a:t>articulaire aigu (RAA)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III.3.3 IT  sur endocardite du cœur droit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III.3.4 IT </a:t>
            </a:r>
            <a:r>
              <a:rPr lang="fr-FR" sz="2400" b="1" dirty="0"/>
              <a:t>ischémiques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III.3.5 </a:t>
            </a:r>
            <a:r>
              <a:rPr lang="fr-FR" sz="2400" b="1" dirty="0"/>
              <a:t>IT dégénératives ou dystrophiques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III.3.6 IT par dysfonctionnement de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prothèse valvulaire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III.3.7</a:t>
            </a:r>
            <a:r>
              <a:rPr lang="fr-FR" sz="2400" dirty="0" smtClean="0"/>
              <a:t> </a:t>
            </a:r>
            <a:r>
              <a:rPr lang="fr-FR" sz="2400" b="1" dirty="0" smtClean="0"/>
              <a:t>Autres </a:t>
            </a:r>
            <a:r>
              <a:rPr lang="fr-FR" sz="2400" b="1" dirty="0"/>
              <a:t>causes plus </a:t>
            </a:r>
            <a:r>
              <a:rPr lang="fr-FR" sz="2400" b="1" dirty="0" smtClean="0"/>
              <a:t>rares</a:t>
            </a: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/>
            </a:r>
            <a:br>
              <a:rPr lang="fr-FR" sz="3600" b="1" dirty="0" smtClean="0">
                <a:solidFill>
                  <a:srgbClr val="FFFF00"/>
                </a:solidFill>
                <a:effectLst/>
              </a:rPr>
            </a:br>
            <a:r>
              <a:rPr lang="fr-FR" sz="3600" b="1" dirty="0" smtClean="0">
                <a:solidFill>
                  <a:srgbClr val="FFFF00"/>
                </a:solidFill>
                <a:effectLst/>
              </a:rPr>
              <a:t>III.3.1 IT fonctionnelles</a:t>
            </a:r>
            <a:r>
              <a:rPr lang="fr-FR" sz="3600" dirty="0" smtClean="0"/>
              <a:t/>
            </a:r>
            <a:br>
              <a:rPr lang="fr-FR" sz="3600" dirty="0" smtClean="0"/>
            </a:b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30725"/>
          </a:xfrm>
        </p:spPr>
        <p:txBody>
          <a:bodyPr>
            <a:normAutofit/>
          </a:bodyPr>
          <a:lstStyle/>
          <a:p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Fréquente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>
                <a:sym typeface="Wingdings" pitchFamily="2" charset="2"/>
              </a:rPr>
              <a:t>S</a:t>
            </a:r>
            <a:r>
              <a:rPr lang="fr-FR" sz="2400" b="1" dirty="0" smtClean="0">
                <a:sym typeface="Wingdings" pitchFamily="2" charset="2"/>
              </a:rPr>
              <a:t>uite </a:t>
            </a:r>
            <a:r>
              <a:rPr lang="fr-FR" sz="2400" b="1" dirty="0">
                <a:sym typeface="Wingdings" pitchFamily="2" charset="2"/>
              </a:rPr>
              <a:t>à une dilatation du VD secondaire à une </a:t>
            </a:r>
            <a:r>
              <a:rPr lang="fr-FR" sz="2400" b="1" dirty="0" smtClean="0">
                <a:sym typeface="Wingdings" pitchFamily="2" charset="2"/>
              </a:rPr>
              <a:t>HTAP</a:t>
            </a:r>
            <a:endParaRPr lang="fr-FR" sz="2400" b="1" dirty="0" smtClean="0"/>
          </a:p>
          <a:p>
            <a:pPr marL="0" indent="0">
              <a:buNone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c</a:t>
            </a:r>
            <a:r>
              <a:rPr lang="fr-FR" sz="2400" b="1" dirty="0" smtClean="0"/>
              <a:t>ardiopathies </a:t>
            </a:r>
            <a:r>
              <a:rPr lang="fr-FR" sz="2400" b="1" dirty="0"/>
              <a:t>au stade dilaté, quelle qu’en soit la cause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E</a:t>
            </a:r>
            <a:r>
              <a:rPr lang="fr-FR" sz="2400" b="1" dirty="0" smtClean="0"/>
              <a:t>voluant </a:t>
            </a:r>
            <a:r>
              <a:rPr lang="fr-FR" sz="2400" b="1" dirty="0"/>
              <a:t>parallèlement à</a:t>
            </a:r>
            <a:r>
              <a:rPr lang="fr-FR" sz="2400" b="1" dirty="0" smtClean="0"/>
              <a:t> </a:t>
            </a:r>
            <a:r>
              <a:rPr lang="fr-FR" sz="2400" b="1" dirty="0"/>
              <a:t>la cardiopathie causale</a:t>
            </a:r>
          </a:p>
          <a:p>
            <a:pPr marL="0" indent="0">
              <a:buNone/>
            </a:pPr>
            <a:endParaRPr lang="fr-FR" sz="2400" b="1" dirty="0" smtClean="0"/>
          </a:p>
          <a:p>
            <a:pPr marL="0" indent="0">
              <a:buNone/>
            </a:pP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III.3.2 Rhumatisme articulaire aigu (RAA)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F</a:t>
            </a:r>
            <a:r>
              <a:rPr lang="fr-FR" sz="2400" b="1" dirty="0" smtClean="0"/>
              <a:t>réquente </a:t>
            </a:r>
            <a:r>
              <a:rPr lang="fr-FR" sz="2400" b="1" dirty="0"/>
              <a:t>dans les </a:t>
            </a:r>
            <a:r>
              <a:rPr lang="fr-FR" sz="2400" b="1" dirty="0" smtClean="0"/>
              <a:t>pays en développement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R</a:t>
            </a:r>
            <a:r>
              <a:rPr lang="fr-FR" sz="2400" b="1" dirty="0" smtClean="0"/>
              <a:t>étraction </a:t>
            </a:r>
            <a:r>
              <a:rPr lang="fr-FR" sz="2400" b="1" dirty="0"/>
              <a:t>avec </a:t>
            </a:r>
            <a:r>
              <a:rPr lang="fr-FR" sz="2400" b="1" dirty="0">
                <a:solidFill>
                  <a:srgbClr val="FFFF99"/>
                </a:solidFill>
              </a:rPr>
              <a:t>épaississement valvulaire </a:t>
            </a:r>
            <a:r>
              <a:rPr lang="fr-FR" sz="2400" b="1" dirty="0"/>
              <a:t>et atteinte des </a:t>
            </a:r>
            <a:r>
              <a:rPr lang="fr-FR" sz="2400" b="1" dirty="0" smtClean="0"/>
              <a:t>cordages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V</a:t>
            </a:r>
            <a:r>
              <a:rPr lang="fr-FR" sz="2400" b="1" dirty="0" smtClean="0"/>
              <a:t>alvulopathies </a:t>
            </a:r>
            <a:r>
              <a:rPr lang="fr-FR" sz="2400" b="1" dirty="0"/>
              <a:t>aortique </a:t>
            </a:r>
            <a:r>
              <a:rPr lang="fr-FR" sz="2400" b="1" dirty="0" smtClean="0"/>
              <a:t>et/ou mitrale associées +++</a:t>
            </a: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5719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III.3.</a:t>
            </a:r>
            <a:r>
              <a:rPr lang="fr-FR" sz="3600" b="1" dirty="0">
                <a:solidFill>
                  <a:srgbClr val="FFFF00"/>
                </a:solidFill>
                <a:effectLst/>
              </a:rPr>
              <a:t>3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 IT sur endocardite du cœur droit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F</a:t>
            </a:r>
            <a:r>
              <a:rPr lang="fr-FR" sz="2400" b="1" dirty="0" smtClean="0"/>
              <a:t>réquente </a:t>
            </a:r>
            <a:r>
              <a:rPr lang="fr-FR" sz="2400" b="1" dirty="0"/>
              <a:t>dans les pays développés </a:t>
            </a: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Souvent sujets jeunes avec antécédent de toxicomanie intraveineuse, sondes de PM</a:t>
            </a:r>
          </a:p>
          <a:p>
            <a:pPr>
              <a:buNone/>
            </a:pPr>
            <a:endParaRPr lang="fr-FR" sz="2400" b="1" dirty="0"/>
          </a:p>
          <a:p>
            <a:pPr marL="514350" indent="-514350">
              <a:buNone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III.3.4 IT post infarctus du myocarde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Infarctus du cœur droit ou infarctus étendu avec extension au niveau du VD : par nécrose du pilier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A</a:t>
            </a:r>
            <a:r>
              <a:rPr lang="fr-FR" sz="2400" b="1" dirty="0" smtClean="0"/>
              <a:t>u </a:t>
            </a:r>
            <a:r>
              <a:rPr lang="fr-FR" sz="2400" b="1" dirty="0"/>
              <a:t>cours de l’</a:t>
            </a:r>
            <a:r>
              <a:rPr lang="fr-FR" sz="2400" b="1" dirty="0">
                <a:solidFill>
                  <a:srgbClr val="FFFF99"/>
                </a:solidFill>
              </a:rPr>
              <a:t>angor </a:t>
            </a:r>
            <a:r>
              <a:rPr lang="fr-FR" sz="2400" b="1" dirty="0" smtClean="0">
                <a:solidFill>
                  <a:srgbClr val="FFFF99"/>
                </a:solidFill>
              </a:rPr>
              <a:t>chronique </a:t>
            </a:r>
            <a:r>
              <a:rPr lang="fr-FR" sz="2400" b="1" dirty="0" smtClean="0"/>
              <a:t>: </a:t>
            </a:r>
            <a:r>
              <a:rPr lang="fr-FR" sz="2400" b="1" dirty="0"/>
              <a:t>fibrose au niveau du pilier inférieur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III.3.5 IT dégénérative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F</a:t>
            </a:r>
            <a:r>
              <a:rPr lang="fr-FR" sz="2400" b="1" dirty="0" smtClean="0"/>
              <a:t>réquente dans les pas développés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Par calcification valvulaire</a:t>
            </a:r>
          </a:p>
          <a:p>
            <a:endParaRPr lang="fr-FR" sz="28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6019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III.3.6 IT par dysfonctionnement de prothèse valvulaire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Fracture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Fuite </a:t>
            </a:r>
            <a:r>
              <a:rPr lang="fr-FR" sz="2400" b="1" dirty="0" err="1" smtClean="0"/>
              <a:t>périprothétique</a:t>
            </a: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Désinsertion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Dégénérescence </a:t>
            </a:r>
            <a:r>
              <a:rPr lang="fr-FR" sz="2400" b="1" dirty="0"/>
              <a:t>de </a:t>
            </a:r>
            <a:r>
              <a:rPr lang="fr-FR" sz="2400" b="1" dirty="0" smtClean="0"/>
              <a:t>bioprothèse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III.3.7 Autres causes plus rares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Traumatique (traumatisme </a:t>
            </a:r>
            <a:r>
              <a:rPr lang="fr-FR" sz="2400" b="1" dirty="0"/>
              <a:t>thoracique</a:t>
            </a:r>
            <a:r>
              <a:rPr lang="fr-FR" sz="2400" b="1" dirty="0" smtClean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Collagénoses </a:t>
            </a:r>
            <a:r>
              <a:rPr lang="fr-FR" sz="2400" b="1" dirty="0"/>
              <a:t>(LEAD, syndrome de </a:t>
            </a:r>
            <a:r>
              <a:rPr lang="fr-FR" sz="2400" b="1" dirty="0" err="1" smtClean="0"/>
              <a:t>Marfan</a:t>
            </a:r>
            <a:r>
              <a:rPr lang="fr-FR" sz="2400" b="1" dirty="0" smtClean="0"/>
              <a:t>, …)</a:t>
            </a:r>
          </a:p>
          <a:p>
            <a:pPr>
              <a:lnSpc>
                <a:spcPct val="150000"/>
              </a:lnSpc>
            </a:pP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</a:t>
            </a:r>
            <a:r>
              <a:rPr lang="fr-FR" sz="2400" b="1" dirty="0" smtClean="0"/>
              <a:t>étiologique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III.4 Diagnostic de gravité</a:t>
            </a:r>
            <a:endParaRPr lang="fr-FR" sz="2400" dirty="0">
              <a:solidFill>
                <a:srgbClr val="FFFF99"/>
              </a:solidFill>
            </a:endParaRP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70814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III.4 Diagnostic de gravité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70483"/>
            <a:ext cx="8229600" cy="561084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Selon la sévérité de la fuite : grave si fuite sévère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Selon l’évolution : grave si IT aigüe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Dépend de l’étiologie : infarctus du myocarde,…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Dépend du terrain : grave si sujet âgé avec comorbidité</a:t>
            </a:r>
          </a:p>
          <a:p>
            <a:pPr>
              <a:lnSpc>
                <a:spcPct val="150000"/>
              </a:lnSpc>
            </a:pP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096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3072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 smtClean="0"/>
              <a:t>I. 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Conclusion </a:t>
            </a:r>
            <a:endParaRPr lang="fr-FR" sz="2400" dirty="0">
              <a:solidFill>
                <a:srgbClr val="FFFF99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69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CONCLUSION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IT : le plus souvent fonctionnelles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Secondaire à une HTAP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Pas aussi fréquente que les valvulopathies </a:t>
            </a:r>
            <a:r>
              <a:rPr lang="fr-FR" sz="2400" b="1" dirty="0" err="1" smtClean="0"/>
              <a:t>mitro</a:t>
            </a:r>
            <a:r>
              <a:rPr lang="fr-FR" sz="2400" b="1" dirty="0" smtClean="0"/>
              <a:t>-aortiques en cas de causes organiques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</a:pP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70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91921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bite">
  <a:themeElements>
    <a:clrScheme name="Orbite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rbite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e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DOULEURS THORACIQUES</Template>
  <TotalTime>2844</TotalTime>
  <Words>1687</Words>
  <Application>Microsoft Office PowerPoint</Application>
  <PresentationFormat>Affichage à l'écran (4:3)</PresentationFormat>
  <Paragraphs>644</Paragraphs>
  <Slides>70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70</vt:i4>
      </vt:variant>
    </vt:vector>
  </HeadingPairs>
  <TitlesOfParts>
    <vt:vector size="71" baseType="lpstr">
      <vt:lpstr>Orbite</vt:lpstr>
      <vt:lpstr>Insuffisance tricuspide : signes et diagnostic</vt:lpstr>
      <vt:lpstr>Pré - recquis</vt:lpstr>
      <vt:lpstr>Objectifs </vt:lpstr>
      <vt:lpstr>Plan </vt:lpstr>
      <vt:lpstr>I. Généralités</vt:lpstr>
      <vt:lpstr>I.1 Définition </vt:lpstr>
      <vt:lpstr>I. Généralités</vt:lpstr>
      <vt:lpstr>I.2 Intérêts</vt:lpstr>
      <vt:lpstr>I. Généralités</vt:lpstr>
      <vt:lpstr>I.3 Physiopathologie</vt:lpstr>
      <vt:lpstr>I.3 Physiopathologie</vt:lpstr>
      <vt:lpstr>I.3 Physiopathologie</vt:lpstr>
      <vt:lpstr>I.3.2 Conséquences  </vt:lpstr>
      <vt:lpstr>Plan </vt:lpstr>
      <vt:lpstr>II. Signes</vt:lpstr>
      <vt:lpstr> II.1 TDD : IT fonctionnelle sur cœur pulmonaire chronique </vt:lpstr>
      <vt:lpstr>II.1.1  Circonstances de découverte</vt:lpstr>
      <vt:lpstr>II.1 TDD: IT fonctionnelle sur cœur pulmonaire chronique</vt:lpstr>
      <vt:lpstr>II.1.2 Examen clinique (1)</vt:lpstr>
      <vt:lpstr>II.1.2 Examen clinique (2)</vt:lpstr>
      <vt:lpstr>II.1.2 Examen clinique (3)</vt:lpstr>
      <vt:lpstr>II.1.2 Examen clinique (4)</vt:lpstr>
      <vt:lpstr>II.1.2 Examen clinique (5)</vt:lpstr>
      <vt:lpstr>II.1 Type de description : IT fonctionnelle chronique</vt:lpstr>
      <vt:lpstr>II.1.3 Examens paracliniques</vt:lpstr>
      <vt:lpstr>a) Radiographie thoracique (1)</vt:lpstr>
      <vt:lpstr>a) Radiographie thoracique (2)</vt:lpstr>
      <vt:lpstr>II.1.3 Examens paracliniques</vt:lpstr>
      <vt:lpstr>b) Électrocardiogramme</vt:lpstr>
      <vt:lpstr>II.1.3 Examens paracliniques</vt:lpstr>
      <vt:lpstr>c) Échocardiogramme et Doppler cardiaque</vt:lpstr>
      <vt:lpstr>1. Signes échographiques d’IT (1)</vt:lpstr>
      <vt:lpstr>1. Signes échographiques d’IT (1)</vt:lpstr>
      <vt:lpstr>1. Signes échographiques d’IT (2)</vt:lpstr>
      <vt:lpstr>c) Échocardiogramme et Doppler cardiaque</vt:lpstr>
      <vt:lpstr>2. Doppler cardiaque (1)</vt:lpstr>
      <vt:lpstr>2. Doppler cardiaque (2)</vt:lpstr>
      <vt:lpstr>2. Doppler cardiaque (3)</vt:lpstr>
      <vt:lpstr>c) Échocardiographie et Doppler cardiaque</vt:lpstr>
      <vt:lpstr>3. Indications de l’ETO</vt:lpstr>
      <vt:lpstr>II.1.3 Examens paracliniques</vt:lpstr>
      <vt:lpstr>d) Exploration hémodynamique et angiographique</vt:lpstr>
      <vt:lpstr>II.1 TDD : IT fonctionnelle sur cœur pulmonaire chronique</vt:lpstr>
      <vt:lpstr>II.1.4 Evolution et complications communes </vt:lpstr>
      <vt:lpstr>II. Signes</vt:lpstr>
      <vt:lpstr>II.2 Formes cliniques (1)</vt:lpstr>
      <vt:lpstr>II.2 Formes cliniques (2)</vt:lpstr>
      <vt:lpstr>II.2 Formes cliniques (3)</vt:lpstr>
      <vt:lpstr>II.2 Formes cliniques (4)</vt:lpstr>
      <vt:lpstr>II.2 Formes cliniques (5)</vt:lpstr>
      <vt:lpstr>II.2 Formes cliniques (6)</vt:lpstr>
      <vt:lpstr>Plan </vt:lpstr>
      <vt:lpstr>III. Diagnostic</vt:lpstr>
      <vt:lpstr>III.1 Diagnostic positif</vt:lpstr>
      <vt:lpstr>III. Diagnostic</vt:lpstr>
      <vt:lpstr>III.2 Diagnostic différentiel (1)</vt:lpstr>
      <vt:lpstr>III.2 Diagnostic différentiel (2)</vt:lpstr>
      <vt:lpstr>III. Diagnostic</vt:lpstr>
      <vt:lpstr>III.3 Diagnostic étiologique</vt:lpstr>
      <vt:lpstr> III.3.1 IT fonctionnelles </vt:lpstr>
      <vt:lpstr>III.3.2 Rhumatisme articulaire aigu (RAA)</vt:lpstr>
      <vt:lpstr>III.3.3 IT sur endocardite du cœur droit</vt:lpstr>
      <vt:lpstr>III.3.4 IT post infarctus du myocarde</vt:lpstr>
      <vt:lpstr>III.3.5 IT dégénérative</vt:lpstr>
      <vt:lpstr>III.3.6 IT par dysfonctionnement de prothèse valvulaire</vt:lpstr>
      <vt:lpstr>III.3.7 Autres causes plus rares</vt:lpstr>
      <vt:lpstr>III. Diagnostic</vt:lpstr>
      <vt:lpstr>III.4 Diagnostic de gravité</vt:lpstr>
      <vt:lpstr>Plan 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Insuffisance mitrale</dc:title>
  <dc:creator>F/H</dc:creator>
  <cp:lastModifiedBy>user</cp:lastModifiedBy>
  <cp:revision>469</cp:revision>
  <dcterms:created xsi:type="dcterms:W3CDTF">2012-08-29T02:40:21Z</dcterms:created>
  <dcterms:modified xsi:type="dcterms:W3CDTF">2025-06-19T11:58:13Z</dcterms:modified>
</cp:coreProperties>
</file>