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64" r:id="rId3"/>
    <p:sldId id="283" r:id="rId4"/>
    <p:sldId id="257" r:id="rId5"/>
    <p:sldId id="259" r:id="rId6"/>
    <p:sldId id="258" r:id="rId7"/>
    <p:sldId id="303" r:id="rId8"/>
    <p:sldId id="260" r:id="rId9"/>
    <p:sldId id="265" r:id="rId10"/>
    <p:sldId id="266" r:id="rId11"/>
    <p:sldId id="270" r:id="rId12"/>
    <p:sldId id="271" r:id="rId13"/>
    <p:sldId id="278" r:id="rId14"/>
    <p:sldId id="272" r:id="rId15"/>
    <p:sldId id="292" r:id="rId16"/>
    <p:sldId id="293" r:id="rId17"/>
    <p:sldId id="261" r:id="rId18"/>
    <p:sldId id="285" r:id="rId19"/>
    <p:sldId id="280" r:id="rId20"/>
    <p:sldId id="291" r:id="rId21"/>
    <p:sldId id="297" r:id="rId22"/>
    <p:sldId id="290" r:id="rId23"/>
    <p:sldId id="300" r:id="rId24"/>
    <p:sldId id="301" r:id="rId25"/>
    <p:sldId id="299" r:id="rId26"/>
    <p:sldId id="284" r:id="rId27"/>
    <p:sldId id="274" r:id="rId28"/>
    <p:sldId id="276" r:id="rId29"/>
    <p:sldId id="275" r:id="rId30"/>
    <p:sldId id="277" r:id="rId31"/>
    <p:sldId id="279" r:id="rId32"/>
    <p:sldId id="267" r:id="rId33"/>
    <p:sldId id="268" r:id="rId34"/>
    <p:sldId id="269" r:id="rId35"/>
    <p:sldId id="273" r:id="rId36"/>
    <p:sldId id="263" r:id="rId37"/>
    <p:sldId id="294" r:id="rId38"/>
    <p:sldId id="302" r:id="rId39"/>
    <p:sldId id="282" r:id="rId40"/>
    <p:sldId id="281" r:id="rId4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39" d="100"/>
          <a:sy n="39" d="100"/>
        </p:scale>
        <p:origin x="32" y="6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87228-889B-4F82-BEE3-9FF20F95ED10}" type="datetimeFigureOut">
              <a:rPr lang="fr-FR" smtClean="0"/>
              <a:pPr/>
              <a:t>18/08/2025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845F17-CAE1-4335-A476-90A70B2A6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482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845F17-CAE1-4335-A476-90A70B2A6810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697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0AB27-31C0-44B6-9527-255F0ED33625}" type="datetime1">
              <a:rPr lang="fr-FR" smtClean="0"/>
              <a:pPr/>
              <a:t>18/08/2025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11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60A0F-0C35-4C91-9334-980BF863CCA4}" type="datetime1">
              <a:rPr lang="fr-FR" smtClean="0"/>
              <a:pPr/>
              <a:t>18/08/2025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4239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EECEE-BEAB-4241-A0FE-F2C8AA916524}" type="datetime1">
              <a:rPr lang="fr-FR" smtClean="0"/>
              <a:pPr/>
              <a:t>18/08/2025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5447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51D75-4CE6-472A-905C-756FD9A558C6}" type="datetime1">
              <a:rPr lang="fr-FR" smtClean="0"/>
              <a:pPr/>
              <a:t>18/08/2025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04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E700D-8039-482F-9B49-359FF825E72D}" type="datetime1">
              <a:rPr lang="fr-FR" smtClean="0"/>
              <a:pPr/>
              <a:t>18/08/2025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1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1C09-7ABD-42FB-9B98-E374A0AE54A5}" type="datetime1">
              <a:rPr lang="fr-FR" smtClean="0"/>
              <a:pPr/>
              <a:t>18/08/2025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31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08F89-1D34-4129-9715-72D2BAB31F7C}" type="datetime1">
              <a:rPr lang="fr-FR" smtClean="0"/>
              <a:pPr/>
              <a:t>18/08/2025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601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459DE-617A-408C-9614-6AD8D2FAF650}" type="datetime1">
              <a:rPr lang="fr-FR" smtClean="0"/>
              <a:pPr/>
              <a:t>18/08/2025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051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4546F-EF65-4962-89A6-6E73A9B3DEFA}" type="datetime1">
              <a:rPr lang="fr-FR" smtClean="0"/>
              <a:pPr/>
              <a:t>18/08/2025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71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3590D-AD2C-4D53-BDFC-884E8D0F1780}" type="datetime1">
              <a:rPr lang="fr-FR" smtClean="0"/>
              <a:pPr/>
              <a:t>18/08/2025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783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DB7F-03AF-448C-A9E5-8B38CC6B0B7F}" type="datetime1">
              <a:rPr lang="fr-FR" smtClean="0"/>
              <a:pPr/>
              <a:t>18/08/2025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24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62ED8-BEA3-4965-8BC1-0A1E422045AD}" type="datetime1">
              <a:rPr lang="fr-FR" smtClean="0"/>
              <a:pPr/>
              <a:t>18/08/2025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DE20C-C185-40E9-8EBA-DAF6598009A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057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93135" y="1902406"/>
            <a:ext cx="9144000" cy="2387600"/>
          </a:xfrm>
        </p:spPr>
        <p:txBody>
          <a:bodyPr>
            <a:normAutofit/>
          </a:bodyPr>
          <a:lstStyle/>
          <a:p>
            <a:r>
              <a:rPr lang="fr-FR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HYPERTENSION ARTERIELLE PULMONAIRE</a:t>
            </a:r>
            <a:br>
              <a:rPr lang="fr-FR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(Signes et diagnostic)</a:t>
            </a:r>
            <a:br>
              <a:rPr lang="fr-FR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sz="40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33604" y="4700588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 MIANDRISOA </a:t>
            </a:r>
            <a:r>
              <a:rPr lang="fr-F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Rija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Mikhaël</a:t>
            </a: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Cardiologue- Interniste</a:t>
            </a: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Ancien Chef de  clinique en cardiologie</a:t>
            </a:r>
          </a:p>
          <a:p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 RABEARIVONY </a:t>
            </a:r>
            <a:r>
              <a:rPr lang="fr-F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Nirina</a:t>
            </a: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1</a:t>
            </a:fld>
            <a:endParaRPr lang="fr-FR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5901" y="145603"/>
            <a:ext cx="1377234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664" y="145604"/>
            <a:ext cx="1410731" cy="154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3265169" y="660827"/>
            <a:ext cx="49003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UNIVERSITE D’ANTANANARIVO</a:t>
            </a:r>
          </a:p>
          <a:p>
            <a:pPr algn="ctr"/>
            <a:r>
              <a:rPr lang="fr-F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Faculté de Médecine</a:t>
            </a:r>
          </a:p>
        </p:txBody>
      </p:sp>
    </p:spTree>
    <p:extLst>
      <p:ext uri="{BB962C8B-B14F-4D97-AF65-F5344CB8AC3E}">
        <p14:creationId xmlns:p14="http://schemas.microsoft.com/office/powerpoint/2010/main" val="3065175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 requis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Physiologie cardiovasculaire</a:t>
            </a:r>
          </a:p>
          <a:p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Anatomie cardiovasculaire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2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623165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Définir  une HTAP</a:t>
            </a:r>
          </a:p>
          <a:p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Identifier les éléments d’orientation d’une HTAP</a:t>
            </a:r>
          </a:p>
          <a:p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Décrire la classification de l’HTAP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3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881680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solidFill>
            <a:schemeClr val="accent5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Généralités</a:t>
            </a:r>
          </a:p>
          <a:p>
            <a:pPr marL="514350" indent="-514350">
              <a:buAutoNum type="romanUcPeriod"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 Signes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 Diagnostic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4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737620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 Généralités: </a:t>
            </a:r>
            <a:b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b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solidFill>
            <a:schemeClr val="accent5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I.1.Définition</a:t>
            </a: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Pression artérielle moyenne: </a:t>
            </a:r>
            <a:r>
              <a:rPr lang="fr-F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PAPm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&gt;= 20mmHg</a:t>
            </a:r>
          </a:p>
          <a:p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Résistance vasculaire &gt; 3UW</a:t>
            </a:r>
          </a:p>
          <a:p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 capillaire  si PCAP &lt;15mmHG</a:t>
            </a:r>
          </a:p>
          <a:p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/>
              <a:t> </a:t>
            </a:r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Intérêt: 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maladie rare progressive , caractérisée par une augmentation des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pressions et des résistances artérielles pulmonaires conduisant à l’insuffisance ventriculaire droite et au décès</a:t>
            </a:r>
            <a:r>
              <a:rPr lang="fr-FR" sz="2400" dirty="0"/>
              <a:t>.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5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474247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 Généralités</a:t>
            </a:r>
            <a:b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I.2.Rappel </a:t>
            </a:r>
            <a:r>
              <a:rPr lang="fr-FR" sz="36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anatomo</a:t>
            </a: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physiologique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180900" cy="4351338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Fonction circulation pulmonaire </a:t>
            </a:r>
          </a:p>
          <a:p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Artère pulmonaire proximale= élastique </a:t>
            </a:r>
          </a:p>
          <a:p>
            <a:pPr marL="457200" lvl="1" indent="0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Artérioles pulmonaires  musculaires ( régulation du débit et du tonus vasculaire pulmonaire….) </a:t>
            </a:r>
          </a:p>
          <a:p>
            <a:pPr lvl="1"/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Capillaire pulmonaire </a:t>
            </a:r>
          </a:p>
          <a:p>
            <a:pPr lvl="1"/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veine pulmonaire ramènent sang oxygène au cœur gauche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6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49894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 Généralités</a:t>
            </a:r>
            <a:b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I.2.Rappel </a:t>
            </a:r>
            <a:r>
              <a:rPr lang="fr-FR" sz="36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anatomo</a:t>
            </a: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physiologique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180900" cy="4351338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Pression Intracardiaque 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7</a:t>
            </a:fld>
            <a:endParaRPr lang="fr-FR" sz="2400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0100" y="2476500"/>
            <a:ext cx="9385300" cy="4064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9D4876E-CAE7-426A-9E87-F2ECA5B6C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0271" y="2428875"/>
            <a:ext cx="9385300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448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 Généralités</a:t>
            </a:r>
            <a:b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I.3. Physiopathologie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Avec cardiopathie:</a:t>
            </a:r>
          </a:p>
          <a:p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 capillaire</a:t>
            </a:r>
          </a:p>
          <a:p>
            <a:pPr lvl="2"/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Shunt 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ꝉ RVP</a:t>
            </a: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Atteinte des artérioles</a:t>
            </a:r>
          </a:p>
          <a:p>
            <a:pPr lvl="2"/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 capillaire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2"/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Défaut de vidange des veines pulmonaires dans l’OG ( RVPA, RM,I M, RA, Coarctation)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Sans Cardiopathie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HTAP classe III, IV et V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8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129457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 Généralités</a:t>
            </a:r>
            <a:b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I.4. Classification Physiopathologique (1)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81200" y="1652954"/>
            <a:ext cx="8229600" cy="423856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Groupe 1: </a:t>
            </a:r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 HTAP »</a:t>
            </a:r>
            <a:r>
              <a:rPr lang="fr-FR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remodelage intense des artères de 	           petit calibre; </a:t>
            </a:r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 capillaire (PCP≤15mmHg)</a:t>
            </a:r>
          </a:p>
          <a:p>
            <a:pPr marL="0" indent="0">
              <a:buNone/>
            </a:pPr>
            <a:endParaRPr lang="fr-FR" sz="24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Groupe 2: HTP des maladies cardiaques gauches; </a:t>
            </a:r>
          </a:p>
          <a:p>
            <a:pPr marL="457200" lvl="1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             </a:t>
            </a:r>
            <a:r>
              <a:rPr lang="fr-FR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 capillaire (PCP&gt; 15mmHg)</a:t>
            </a:r>
          </a:p>
          <a:p>
            <a:pPr marL="0" indent="0">
              <a:buNone/>
            </a:pPr>
            <a:endParaRPr lang="fr-FR" sz="24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z="2400" smtClean="0"/>
              <a:pPr/>
              <a:t>9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85105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 Généralités</a:t>
            </a:r>
            <a:b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I.4. Classification (2)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81200" y="2009429"/>
            <a:ext cx="8229600" cy="3893660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Groupe 3: HTP des </a:t>
            </a:r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maladies respiratoires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ou </a:t>
            </a:r>
          </a:p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</a:t>
            </a:r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hypoxie chronique</a:t>
            </a: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Groupe 4: HTP </a:t>
            </a:r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thromboembolique</a:t>
            </a:r>
            <a:r>
              <a:rPr lang="fr-FR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chronique et autres 	           </a:t>
            </a:r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obstructions artérielles pulmonaires</a:t>
            </a: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Groupe 5: HTP des mécanismes </a:t>
            </a:r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multifactoriels ou 	  	           incertains</a:t>
            </a:r>
          </a:p>
          <a:p>
            <a:pPr marL="0" indent="0">
              <a:buNone/>
            </a:pPr>
            <a:endParaRPr lang="fr-FR" sz="24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z="2400" smtClean="0"/>
              <a:pPr/>
              <a:t>10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138812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 Généralités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II- Signes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II.1. Type de description ( TDD)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II.2. Formes cliniques</a:t>
            </a:r>
          </a:p>
          <a:p>
            <a:pPr marL="0" indent="0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III- Diagnostic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158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TDD: HTAP sans cardiopathies congénitales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 spécifiques +++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Dyspnée +++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Douleur thoracique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Palpitation 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Lipothymie/syncope d’effort</a:t>
            </a: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377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Signes physiques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Hippocratisme digital</a:t>
            </a:r>
          </a:p>
          <a:p>
            <a:pPr lvl="1"/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Cyanose + notion de shunt = signe vers HTAP fixée</a:t>
            </a:r>
          </a:p>
          <a:p>
            <a:pPr lvl="1"/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Souffle </a:t>
            </a:r>
          </a:p>
          <a:p>
            <a:pPr lvl="1"/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Eclat  de B2 pulmonaire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13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862158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Signes paracliniques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315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ECG</a:t>
            </a:r>
            <a:r>
              <a:rPr lang="fr-FR" dirty="0">
                <a:solidFill>
                  <a:schemeClr val="bg1"/>
                </a:solidFill>
              </a:rPr>
              <a:t>: SVD, axe droit</a:t>
            </a:r>
          </a:p>
          <a:p>
            <a:pPr>
              <a:buFont typeface="Wingdings" panose="05000000000000000000" pitchFamily="2" charset="2"/>
              <a:buChar char="q"/>
            </a:pPr>
            <a:endParaRPr lang="fr-FR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Radiographie thoracique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</a:rPr>
              <a:t>-Shunt : AP dilatée, vascularisation périph riche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</a:rPr>
              <a:t>-Primitive: AP dilatée, vascularisation périph pauvre 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796761" y="3101051"/>
            <a:ext cx="2930269" cy="2396924"/>
          </a:xfrm>
          <a:prstGeom prst="rect">
            <a:avLst/>
          </a:prstGeom>
        </p:spPr>
      </p:pic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413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Signes paracliniques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123025" cy="4351338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 cardio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VD hypertrophié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Courbure septale inversée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fr-FR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PAPs</a:t>
            </a:r>
            <a:r>
              <a:rPr lang="fr-FR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 IT; </a:t>
            </a:r>
            <a:r>
              <a:rPr lang="fr-FR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PAPd</a:t>
            </a:r>
            <a:r>
              <a:rPr lang="fr-FR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IP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QP/QS (Q = FC x VES et VES = Surf x V x T </a:t>
            </a:r>
            <a:r>
              <a:rPr lang="fr-F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eject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Cardiopathie associée (shunt, cœur gauche, RVPA..)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7588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Signes paracliniques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123025" cy="4351338"/>
          </a:xfrm>
        </p:spPr>
        <p:txBody>
          <a:bodyPr>
            <a:normAutofit fontScale="92500"/>
          </a:bodyPr>
          <a:lstStyle/>
          <a:p>
            <a:r>
              <a:rPr lang="fr-FR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Cathétérisme avec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angiographie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Tx/>
              <a:buChar char="-"/>
            </a:pPr>
            <a:r>
              <a:rPr lang="fr-F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PAPm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RVP Pré capillaire si RVP &lt;15mmHg; post capillaire si &gt; 15mmHg</a:t>
            </a:r>
          </a:p>
          <a:p>
            <a:pPr marL="457200" lvl="1" indent="0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QP </a:t>
            </a:r>
          </a:p>
          <a:p>
            <a:pPr>
              <a:buFontTx/>
              <a:buChar char="-"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Shunt?</a:t>
            </a:r>
          </a:p>
          <a:p>
            <a:pPr marL="342900" lvl="1" indent="-342900">
              <a:spcBef>
                <a:spcPts val="1000"/>
              </a:spcBef>
              <a:buFontTx/>
              <a:buChar char="-"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Tests pharmaco réversibilité?(Test NO pour le traitement médical étiologique)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Ramifications périphériques à l’angiographie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6720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Signes : Evolution et pronostic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solidFill>
            <a:schemeClr val="accent5">
              <a:lumMod val="75000"/>
            </a:schemeClr>
          </a:solidFill>
        </p:spPr>
        <p:txBody>
          <a:bodyPr>
            <a:normAutofit/>
          </a:bodyPr>
          <a:lstStyle/>
          <a:p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Facteurs de mauvais pronostic : 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- Clinique: Apparition de cyanose , syncope, signes d’IVD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Echo graphique: courbure septale aplatie,  TAPSE &lt;12mm; FEVD diminuée ; VCI dilatée </a:t>
            </a:r>
          </a:p>
          <a:p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Evolution sans traitement : risque de décès a 10 mois</a:t>
            </a:r>
          </a:p>
          <a:p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Evolution avec traitement : Survie 10 a 15 ans en général</a:t>
            </a:r>
          </a:p>
          <a:p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17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489370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rgbClr val="FFFF00"/>
                </a:solidFill>
              </a:rPr>
              <a:t>Plan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 Généralités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II- Signes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II.1. Type de description ( TDD)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II.2. Formes cliniques</a:t>
            </a:r>
          </a:p>
          <a:p>
            <a:pPr marL="0" indent="0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III- Diagnostic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8711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Signes:</a:t>
            </a:r>
            <a:b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II.2.Formes Cliniques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solidFill>
            <a:schemeClr val="accent5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II.2.1 Formes selon le terrain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II.2.2. Formes selon l’origine physiopathologique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II.2.3. Formes d’HTAP avec cardiopathie congénitale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II.2.4. Formes selon l’évolution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19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199262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Signes:</a:t>
            </a:r>
            <a:b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 Formes Cliniques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solidFill>
            <a:schemeClr val="accent5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II.2.1 Formes selon le terrain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II.2.1.1. </a:t>
            </a:r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Chez le nourrisson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Classe I7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Clinique : désaturation, cyanose , Eclat de B2 pulmonaire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Echo doppler Cardiaque: Absence de </a:t>
            </a:r>
            <a:r>
              <a:rPr lang="fr-F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déféct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confirmation HTAP par IT ou IP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II.2.1.2. </a:t>
            </a:r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Chez l’enfant 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même signes cliniques, éliminer un gros </a:t>
            </a:r>
            <a:r>
              <a:rPr lang="fr-F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déféct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non vu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20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072170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Signes:</a:t>
            </a:r>
            <a:b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 Formes Cliniques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solidFill>
            <a:schemeClr val="accent5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II.2.1 Formes selon le terrain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II.2.1.3. </a:t>
            </a:r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Chez un jeune</a:t>
            </a: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Clinique : désaturation, cyanose , hippocratisme digital, malaise, Eclat de B2 pulmonaire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Echo doppler Cardiaque: Absence de </a:t>
            </a:r>
            <a:r>
              <a:rPr lang="fr-F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déféct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 présence d’une CIA non vue, confirmation HTAP par IT ou IP et présence d’étiologie post capillaire ( RVPA, RM,IM, RA, coarctation)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II.2.1.4. </a:t>
            </a:r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Chez l’adulte 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même signes cliniques, origine post capillaire ou origine pulmonaire ( classe III) 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21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461422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Signes:</a:t>
            </a:r>
            <a:b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II.2.Formes cliniques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solidFill>
            <a:schemeClr val="accent5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II.2.2. Formes selon l’origine physiopathologique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II.2.2.1. Hypertension groupe III d’origine pulmonaire et IV: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-Clinique : ATCD Embolie pulmonaire (EP) ou BPCO, désaturation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</a:t>
            </a:r>
            <a:r>
              <a:rPr lang="fr-F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thx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Cotes horizontales a l’inspiration profonde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Echo Cardiaque: Dilatation des cavités droites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22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978858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Signes:</a:t>
            </a:r>
            <a:b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II.2.Formes Cliniques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solidFill>
            <a:schemeClr val="accent5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III.2.3. Formes d’HTAP avec cardiopathie congénitale</a:t>
            </a:r>
          </a:p>
          <a:p>
            <a:pPr>
              <a:buFontTx/>
              <a:buChar char="-"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Clinique : </a:t>
            </a:r>
          </a:p>
          <a:p>
            <a:pPr lvl="1">
              <a:buFontTx/>
              <a:buChar char="-"/>
            </a:pPr>
            <a:r>
              <a:rPr lang="fr-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présence des signes de shunt : </a:t>
            </a:r>
            <a:r>
              <a:rPr lang="fr-FR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Retard </a:t>
            </a:r>
            <a:r>
              <a:rPr lang="fr-FR" sz="20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staturo</a:t>
            </a:r>
            <a:r>
              <a:rPr lang="fr-FR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pondéral, bronchite a répétition, sueur pendant la tété</a:t>
            </a:r>
          </a:p>
          <a:p>
            <a:pPr lvl="1">
              <a:buFontTx/>
              <a:buChar char="-"/>
            </a:pPr>
            <a:r>
              <a:rPr lang="fr-FR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Souffle et éclat de B2</a:t>
            </a:r>
          </a:p>
          <a:p>
            <a:pPr>
              <a:buFontTx/>
              <a:buChar char="-"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Radiographie: surcharge vasculaire </a:t>
            </a:r>
          </a:p>
          <a:p>
            <a:pPr>
              <a:buFontTx/>
              <a:buChar char="-"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 doppler cardiaque : confirme le shunt, évaluation HTAP a partir du shunt, septum (pas sur l’IT ), sa gravité et les anomalies associées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23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09693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Signes:</a:t>
            </a:r>
            <a:b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II.2.Formes Cliniques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574157"/>
            <a:ext cx="10515600" cy="4625031"/>
          </a:xfrm>
          <a:solidFill>
            <a:schemeClr val="accent5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II.2.4. Formes selon l’évolution</a:t>
            </a:r>
          </a:p>
          <a:p>
            <a:pPr>
              <a:buFontTx/>
              <a:buChar char="-"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HTAP post-capillaire (RM, IM...) : Hypertrophie des veines puis des artères pulmonaires. Lésions réversibles mais RISQUE POST-OP. </a:t>
            </a:r>
          </a:p>
          <a:p>
            <a:pPr>
              <a:buFontTx/>
              <a:buChar char="-"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CIV: hypertrophie de la média avec risque++ imprévisible de lésions sévères: OPERER AVANT L’AGE DE 12 MOIS.</a:t>
            </a:r>
          </a:p>
          <a:p>
            <a:pPr>
              <a:buFontTx/>
              <a:buChar char="-"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fr-F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CAVcomplet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lésions précoces surtout en cas de T21</a:t>
            </a:r>
          </a:p>
          <a:p>
            <a:pPr>
              <a:buFontTx/>
              <a:buChar char="-"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CIA: lésions très TARDIVES &gt; 30ans. Parfois plus précoce.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susceptibilité individuelle?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 facteurs génétiques?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24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895729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 Généralités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II- Signes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III- Diagnostic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2432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III.1.Diagnostic positif 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Orienté par la clinique : dyspnée, syncope, cyanose, hippocratisme digital ; Eclat de B2 pulmonaire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Confirmé par Echo Doppler Cardiaque et /ou </a:t>
            </a:r>
            <a:r>
              <a:rPr lang="fr-FR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Cathéterisme</a:t>
            </a: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457200" lvl="1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403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466" y="410368"/>
            <a:ext cx="10515600" cy="1325563"/>
          </a:xfrm>
        </p:spPr>
        <p:txBody>
          <a:bodyPr/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III.1. Diagnostic positif (1)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ETT + Doppler</a:t>
            </a:r>
          </a:p>
          <a:p>
            <a:pPr lvl="1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Examen de référence pour dépistage  </a:t>
            </a:r>
          </a:p>
          <a:p>
            <a:pPr lvl="1"/>
            <a:r>
              <a:rPr lang="fr-FR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Doppler +++</a:t>
            </a:r>
          </a:p>
          <a:p>
            <a:pPr marL="457200" lvl="1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(vélocité) </a:t>
            </a:r>
            <a:r>
              <a:rPr lang="fr-FR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VmaxIT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(voie apicale et ou </a:t>
            </a:r>
          </a:p>
          <a:p>
            <a:pPr marL="457200" lvl="1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sous costale)</a:t>
            </a:r>
          </a:p>
          <a:p>
            <a:pPr marL="457200" lvl="1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457200" lvl="1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mtClean="0"/>
              <a:pPr/>
              <a:t>27</a:t>
            </a:fld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953" y="2860774"/>
            <a:ext cx="3870767" cy="416688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233" y="53914"/>
            <a:ext cx="3870767" cy="277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89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III.1.Diagnostic positif </a:t>
            </a:r>
            <a:r>
              <a:rPr lang="fr-FR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ETT + Doppler</a:t>
            </a:r>
          </a:p>
          <a:p>
            <a:pPr lvl="1">
              <a:buFont typeface="Wingdings"/>
              <a:buChar char="è"/>
            </a:pPr>
            <a:r>
              <a:rPr lang="fr-FR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 niveaux de probabilités:</a:t>
            </a:r>
          </a:p>
          <a:p>
            <a:pPr lvl="2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HTP faible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VmaxIT≤2,8m/s</a:t>
            </a:r>
          </a:p>
          <a:p>
            <a:pPr lvl="2"/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HTP intermédiaire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VmaxIT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2,9 à 3,4 m/s sans signes évocateurs d’HTP ou &lt;2,8 m/s avec autres signes d’HTP</a:t>
            </a:r>
          </a:p>
          <a:p>
            <a:pPr lvl="2"/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HTP élevée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VmaxIT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2,9 à 3,4 m/s avec signes évocateurs d’HTP </a:t>
            </a:r>
          </a:p>
          <a:p>
            <a:pPr marL="914400" lvl="2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 </a:t>
            </a:r>
            <a:r>
              <a:rPr lang="fr-F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VmaxIT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3,4 m/s [niveau de preuve 2]</a:t>
            </a:r>
          </a:p>
          <a:p>
            <a:pPr marL="457200" lvl="1" indent="0">
              <a:buNone/>
            </a:pPr>
            <a:r>
              <a:rPr lang="fr-FR" u="sng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457200" lvl="1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2828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III.1.Diagnostic positif (3)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77792" y="1825625"/>
            <a:ext cx="10232021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ETT + Doppler</a:t>
            </a:r>
          </a:p>
          <a:p>
            <a:pPr lvl="1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Examen de référence pour dépistage  </a:t>
            </a:r>
          </a:p>
          <a:p>
            <a:pPr marL="457200" lvl="1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[niveau de preuve 2]</a:t>
            </a:r>
          </a:p>
          <a:p>
            <a:pPr marL="457200" lvl="1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Doppler +++</a:t>
            </a:r>
          </a:p>
          <a:p>
            <a:pPr marL="457200" lvl="1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Flux IP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(Pt axe ): PAP diastolique ou  PAP moyenne	</a:t>
            </a:r>
          </a:p>
          <a:p>
            <a:pPr marL="457200" lvl="1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mtClean="0"/>
              <a:pPr/>
              <a:t>29</a:t>
            </a:fld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928" y="1261038"/>
            <a:ext cx="3472543" cy="319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253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Cathétérisme cardiaque droit: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Examen de référence pour confirmer Hypertension artérielle pulmonaire ( PAP moyenne &gt;=25mmHG)</a:t>
            </a:r>
          </a:p>
          <a:p>
            <a:pPr lvl="1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mtClean="0"/>
              <a:pPr/>
              <a:t>30</a:t>
            </a:fld>
            <a:endParaRPr 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III.1.Diagnostic  positif (4)</a:t>
            </a:r>
          </a:p>
        </p:txBody>
      </p:sp>
    </p:spTree>
    <p:extLst>
      <p:ext uri="{BB962C8B-B14F-4D97-AF65-F5344CB8AC3E}">
        <p14:creationId xmlns:p14="http://schemas.microsoft.com/office/powerpoint/2010/main" val="253750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III.2. Diagnostic de gravités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Clinique : dyspnée NYHA III à IV, cyanose, syncope, IVD  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ETT + Doppler</a:t>
            </a: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Retentissement droit:</a:t>
            </a:r>
          </a:p>
          <a:p>
            <a:pPr lvl="2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Septum plat</a:t>
            </a:r>
          </a:p>
          <a:p>
            <a:pPr lvl="2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Hypertrophie du VD	(&gt;5mm)</a:t>
            </a:r>
          </a:p>
          <a:p>
            <a:pPr lvl="2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TAPSE: mesure  en TM (&lt;12mm)</a:t>
            </a:r>
          </a:p>
          <a:p>
            <a:pPr lvl="2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Doppler tissulaire tricuspide :  Onde S basse</a:t>
            </a:r>
          </a:p>
          <a:p>
            <a:pPr lvl="2"/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Surface du VD : FEVD altérée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12736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z="2400" smtClean="0"/>
              <a:pPr/>
              <a:t>32</a:t>
            </a:fld>
            <a:endParaRPr lang="fr-FR" sz="2400" dirty="0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59757" y="274638"/>
            <a:ext cx="9551043" cy="1143000"/>
          </a:xfrm>
        </p:spPr>
        <p:txBody>
          <a:bodyPr/>
          <a:lstStyle/>
          <a:p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III.3.Diagnostic étiologique : Classification (1)</a:t>
            </a:r>
          </a:p>
        </p:txBody>
      </p:sp>
      <p:graphicFrame>
        <p:nvGraphicFramePr>
          <p:cNvPr id="9" name="Espace réservé du contenu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847535"/>
              </p:ext>
            </p:extLst>
          </p:nvPr>
        </p:nvGraphicFramePr>
        <p:xfrm>
          <a:off x="486137" y="1268760"/>
          <a:ext cx="11412638" cy="423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9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2132"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 HTAP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Idiopathique</a:t>
                      </a:r>
                    </a:p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Héritables (BMPR2,ALK1,Endogline,</a:t>
                      </a:r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20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Médicamenteuse ou toxique</a:t>
                      </a:r>
                    </a:p>
                    <a:p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Associée: [Connectivite, VIH,          HTP, Cardiopathies </a:t>
                      </a:r>
                      <a:r>
                        <a:rPr lang="fr-FR" sz="20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congenitales</a:t>
                      </a:r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bilharziose ]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9232"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1’ Maladie </a:t>
                      </a:r>
                      <a:r>
                        <a:rPr lang="fr-FR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veino</a:t>
                      </a:r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occlusive pulmonaire/</a:t>
                      </a:r>
                      <a:r>
                        <a:rPr lang="fr-FR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hémangiomatose</a:t>
                      </a:r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capillaire pulmonaire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Idiopathique</a:t>
                      </a:r>
                    </a:p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Héritable ( EIF2AK4,…)</a:t>
                      </a:r>
                    </a:p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Médicamenteuse, toxique, irradiation</a:t>
                      </a:r>
                    </a:p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Associé à: Connectivite, VIH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068"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1’’ HTTP du nouveau né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ZoneTexte 9"/>
          <p:cNvSpPr txBox="1"/>
          <p:nvPr/>
        </p:nvSpPr>
        <p:spPr>
          <a:xfrm>
            <a:off x="2342569" y="5767368"/>
            <a:ext cx="80648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2015 ESC/ERS Guidelines for the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tretment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pulmonary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hypertension: the joint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force for the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pulmonary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Hypertension of the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european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Respiatory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Sosiety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(ERS)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Endorsed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 Association for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Europen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Paediatric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congenital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cardiology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(AEPC),  International Society for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heart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lung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Transplantation (ISHLT).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Respir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 2015; 46:903-75</a:t>
            </a:r>
          </a:p>
        </p:txBody>
      </p:sp>
    </p:spTree>
    <p:extLst>
      <p:ext uri="{BB962C8B-B14F-4D97-AF65-F5344CB8AC3E}">
        <p14:creationId xmlns:p14="http://schemas.microsoft.com/office/powerpoint/2010/main" val="3115102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190761"/>
              </p:ext>
            </p:extLst>
          </p:nvPr>
        </p:nvGraphicFramePr>
        <p:xfrm>
          <a:off x="162043" y="1129542"/>
          <a:ext cx="11759880" cy="452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9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6072"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 HTP des cardiopathies</a:t>
                      </a:r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gauches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Dysfonction systolique</a:t>
                      </a:r>
                    </a:p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Dysfonction</a:t>
                      </a:r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diastolique</a:t>
                      </a:r>
                    </a:p>
                    <a:p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Valvulopathies</a:t>
                      </a:r>
                    </a:p>
                    <a:p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Obstacle gauche congénital ou acquis et cardiomyopathies congénitales</a:t>
                      </a:r>
                    </a:p>
                    <a:p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Sténose des veines pulmonaires congénitale et acquise</a:t>
                      </a:r>
                    </a:p>
                    <a:p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1608"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3- HTTP des maladies respiratoires</a:t>
                      </a:r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et/ou hypoxie chronique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BPCO</a:t>
                      </a:r>
                    </a:p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Pneumopathies interstitielles</a:t>
                      </a:r>
                    </a:p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Maladies</a:t>
                      </a:r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restrictive respiratoires et ou obstructive</a:t>
                      </a:r>
                    </a:p>
                    <a:p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SAOS</a:t>
                      </a:r>
                    </a:p>
                    <a:p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Hypoventilation alvéolaire</a:t>
                      </a:r>
                    </a:p>
                    <a:p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Anomalie de développement pulmonaire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z="2400" smtClean="0"/>
              <a:pPr/>
              <a:t>33</a:t>
            </a:fld>
            <a:endParaRPr lang="fr-FR" sz="2400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497711" y="274638"/>
            <a:ext cx="9713089" cy="1143000"/>
          </a:xfrm>
        </p:spPr>
        <p:txBody>
          <a:bodyPr/>
          <a:lstStyle/>
          <a:p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III.3. Diagnostic étiologique : Classification (2)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435167" y="5903893"/>
            <a:ext cx="80648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2015 ESC/ERS Guidelines for the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tretment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pulmonary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hypertension: the joint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force for the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pulmonary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Hypertension of the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european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Respiatory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Sosiety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(ERS)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Endorsed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 Association for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Europen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Paediatric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congenital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cardiology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(AEPC),  International Society for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heart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lung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Transplantation (ISHLT).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Respir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 2015; 46:903-75</a:t>
            </a:r>
          </a:p>
        </p:txBody>
      </p:sp>
    </p:spTree>
    <p:extLst>
      <p:ext uri="{BB962C8B-B14F-4D97-AF65-F5344CB8AC3E}">
        <p14:creationId xmlns:p14="http://schemas.microsoft.com/office/powerpoint/2010/main" val="11710815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643420"/>
              </p:ext>
            </p:extLst>
          </p:nvPr>
        </p:nvGraphicFramePr>
        <p:xfrm>
          <a:off x="158262" y="1196752"/>
          <a:ext cx="11324492" cy="4384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2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015"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4- HTTP post embolique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HTTP</a:t>
                      </a:r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20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thromboe</a:t>
                      </a:r>
                      <a:r>
                        <a:rPr lang="fr-FR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mbolie</a:t>
                      </a:r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chronique</a:t>
                      </a:r>
                    </a:p>
                    <a:p>
                      <a:r>
                        <a:rPr lang="fr-FR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Angiosarcome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Tumeurs</a:t>
                      </a:r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intra vasculaires</a:t>
                      </a:r>
                    </a:p>
                    <a:p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Artérite</a:t>
                      </a:r>
                    </a:p>
                    <a:p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Sténose artérielles pulmonaires congénitales</a:t>
                      </a:r>
                    </a:p>
                    <a:p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parasites</a:t>
                      </a:r>
                      <a:endParaRPr lang="fr-FR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8117"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5- HTTP multifactoriels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Hématologiques: </a:t>
                      </a:r>
                      <a:r>
                        <a:rPr lang="fr-FR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anemie</a:t>
                      </a:r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hemolytique</a:t>
                      </a:r>
                      <a:r>
                        <a:rPr lang="fr-FR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chronique,</a:t>
                      </a:r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syndrome </a:t>
                      </a:r>
                      <a:r>
                        <a:rPr lang="fr-FR" sz="20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myeloproliferatif,splenectomie</a:t>
                      </a:r>
                      <a:endParaRPr lang="fr-FR" sz="2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fr-FR" sz="2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Maladie systémique</a:t>
                      </a:r>
                    </a:p>
                    <a:p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Maladie </a:t>
                      </a:r>
                      <a:r>
                        <a:rPr lang="fr-FR" sz="20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metabolique</a:t>
                      </a:r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fr-FR" sz="20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glycogenose</a:t>
                      </a:r>
                      <a:r>
                        <a:rPr lang="fr-FR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Gaucher, </a:t>
                      </a:r>
                      <a:r>
                        <a:rPr lang="fr-FR" sz="2000" baseline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dysthyroidie</a:t>
                      </a:r>
                      <a:endParaRPr lang="fr-FR" sz="2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z="2400" smtClean="0"/>
              <a:pPr/>
              <a:t>34</a:t>
            </a:fld>
            <a:endParaRPr lang="fr-FR" sz="2400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544010" y="274638"/>
            <a:ext cx="9666790" cy="1143000"/>
          </a:xfrm>
        </p:spPr>
        <p:txBody>
          <a:bodyPr/>
          <a:lstStyle/>
          <a:p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III.3.Diagnostic étiologique :Classification (3)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354143" y="5879296"/>
            <a:ext cx="80648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2015 ESC/ERS Guidelines for the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tretment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pulmonary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hypertension: the joint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force for the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pulmonary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Hypertension of the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european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Respiatory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Sosiety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(ERS)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Endorsed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by: Association for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Europen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Paediatric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congenital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cardiology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(AEPC),  International Society for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heart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lung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Transplantation (ISHLT).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Respir</a:t>
            </a:r>
            <a:r>
              <a:rPr lang="fr-F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 2015; 46:903-75</a:t>
            </a:r>
          </a:p>
        </p:txBody>
      </p:sp>
    </p:spTree>
    <p:extLst>
      <p:ext uri="{BB962C8B-B14F-4D97-AF65-F5344CB8AC3E}">
        <p14:creationId xmlns:p14="http://schemas.microsoft.com/office/powerpoint/2010/main" val="1110304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I- Généralités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II- Signes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III- Diagnostic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3571-2339-4DF3-9554-4C3B7DEE20EE}" type="slidenum">
              <a:rPr lang="fr-FR" smtClean="0"/>
              <a:pPr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6907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Définition</a:t>
            </a:r>
          </a:p>
          <a:p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Connaissance des signes cliniques d’orientation</a:t>
            </a:r>
          </a:p>
          <a:p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Confirmation par Echo doppler Cardiaque  et / ou cathétérisme</a:t>
            </a:r>
          </a:p>
          <a:p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Cathétérisme cardiaque : indiqué si doute pour la chirurgie</a:t>
            </a:r>
          </a:p>
          <a:p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+++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36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4059102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HTAP IDIOPATIQUE: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Traitements récents, retardent la TRANSPLANTATION COEUR-POUMONS</a:t>
            </a:r>
          </a:p>
          <a:p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HTAP POST-CAPILLAIRE par 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atteinte du cœur gauche :REVERSIBLE après traitement de la cause</a:t>
            </a:r>
          </a:p>
          <a:p>
            <a:pPr marL="0" indent="0">
              <a:buNone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fr-FR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HTAP PRE-CAPILLAIRE </a:t>
            </a: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 shunt, 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PROBLEME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-signes de shunt + (clinique, écho et radio)</a:t>
            </a: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-signes de shunt -et tests pharmaco douteux: BIOPSIE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mtClean="0"/>
              <a:pPr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6230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rgbClr val="FFFF00"/>
                </a:solidFill>
              </a:rPr>
              <a:t>MERCI !!!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mtClean="0"/>
              <a:pPr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13207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solidFill>
            <a:schemeClr val="accent5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Généralités</a:t>
            </a:r>
          </a:p>
          <a:p>
            <a:pPr marL="514350" indent="-514350">
              <a:buAutoNum type="romanUcPeriod"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 Signes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 Diagnostic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39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379629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solidFill>
            <a:schemeClr val="accent5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Généralités</a:t>
            </a:r>
          </a:p>
          <a:p>
            <a:pPr marL="514350" indent="-514350">
              <a:buAutoNum type="romanUcPeriod"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 Signes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III. Diagnostic</a:t>
            </a:r>
          </a:p>
          <a:p>
            <a:pPr marL="0" indent="0">
              <a:buNone/>
            </a:pPr>
            <a:endParaRPr lang="fr-FR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E20C-C185-40E9-8EBA-DAF6598009A1}" type="slidenum">
              <a:rPr lang="fr-FR" sz="2400" smtClean="0"/>
              <a:pPr/>
              <a:t>40</a:t>
            </a:fld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7105260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5938</TotalTime>
  <Words>1870</Words>
  <Application>Microsoft Office PowerPoint</Application>
  <PresentationFormat>Grand écran</PresentationFormat>
  <Paragraphs>383</Paragraphs>
  <Slides>40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Wingdings</vt:lpstr>
      <vt:lpstr>Thème Office</vt:lpstr>
      <vt:lpstr>HYPERTENSION ARTERIELLE PULMONAIRE (Signes et diagnostic) </vt:lpstr>
      <vt:lpstr>Pré requis</vt:lpstr>
      <vt:lpstr>Objectifs</vt:lpstr>
      <vt:lpstr>Plan</vt:lpstr>
      <vt:lpstr>I- Généralités:     </vt:lpstr>
      <vt:lpstr>I- Généralités I.2.Rappel anatomo- physiologique</vt:lpstr>
      <vt:lpstr>I- Généralités I.2.Rappel anatomo- physiologique</vt:lpstr>
      <vt:lpstr>I- Généralités I.3. Physiopathologie</vt:lpstr>
      <vt:lpstr>I- Généralités I.4. Classification Physiopathologique (1)</vt:lpstr>
      <vt:lpstr>I- Généralités I.4. Classification (2)</vt:lpstr>
      <vt:lpstr>Plan</vt:lpstr>
      <vt:lpstr>TDD: HTAP sans cardiopathies congénitales</vt:lpstr>
      <vt:lpstr> Signes physiques</vt:lpstr>
      <vt:lpstr>Signes paracliniques</vt:lpstr>
      <vt:lpstr>Signes paracliniques</vt:lpstr>
      <vt:lpstr>Signes paracliniques</vt:lpstr>
      <vt:lpstr>Signes : Evolution et pronostic</vt:lpstr>
      <vt:lpstr>Plan</vt:lpstr>
      <vt:lpstr>Signes: II.2.Formes Cliniques</vt:lpstr>
      <vt:lpstr>Signes: II.2. Formes Cliniques</vt:lpstr>
      <vt:lpstr>Signes: II.2. Formes Cliniques</vt:lpstr>
      <vt:lpstr>Signes: II.2.Formes cliniques</vt:lpstr>
      <vt:lpstr>Signes: II.2.Formes Cliniques</vt:lpstr>
      <vt:lpstr>Signes: II.2.Formes Cliniques</vt:lpstr>
      <vt:lpstr>Plan</vt:lpstr>
      <vt:lpstr>III.1.Diagnostic positif  </vt:lpstr>
      <vt:lpstr>III.1. Diagnostic positif (1) </vt:lpstr>
      <vt:lpstr>III.1.Diagnostic positif (2)</vt:lpstr>
      <vt:lpstr>III.1.Diagnostic positif (3)</vt:lpstr>
      <vt:lpstr>III.1.Diagnostic  positif (4)</vt:lpstr>
      <vt:lpstr>III.2. Diagnostic de gravités </vt:lpstr>
      <vt:lpstr>III.3.Diagnostic étiologique : Classification (1)</vt:lpstr>
      <vt:lpstr>III.3. Diagnostic étiologique : Classification (2)</vt:lpstr>
      <vt:lpstr>III.3.Diagnostic étiologique :Classification (3)</vt:lpstr>
      <vt:lpstr>Plan</vt:lpstr>
      <vt:lpstr>Conclusion</vt:lpstr>
      <vt:lpstr>Conclusion</vt:lpstr>
      <vt:lpstr>MERCI !!!</vt:lpstr>
      <vt:lpstr>Plan</vt:lpstr>
      <vt:lpstr>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Windows</dc:creator>
  <cp:lastModifiedBy>ZICO</cp:lastModifiedBy>
  <cp:revision>210</cp:revision>
  <dcterms:created xsi:type="dcterms:W3CDTF">2022-01-16T14:43:24Z</dcterms:created>
  <dcterms:modified xsi:type="dcterms:W3CDTF">2025-08-18T11:15:14Z</dcterms:modified>
</cp:coreProperties>
</file>