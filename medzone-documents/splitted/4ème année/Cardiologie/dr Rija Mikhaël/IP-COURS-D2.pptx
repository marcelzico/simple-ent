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7"/>
  </p:notesMasterIdLst>
  <p:sldIdLst>
    <p:sldId id="333" r:id="rId2"/>
    <p:sldId id="367" r:id="rId3"/>
    <p:sldId id="257" r:id="rId4"/>
    <p:sldId id="366" r:id="rId5"/>
    <p:sldId id="258" r:id="rId6"/>
    <p:sldId id="362" r:id="rId7"/>
    <p:sldId id="307" r:id="rId8"/>
    <p:sldId id="308" r:id="rId9"/>
    <p:sldId id="309" r:id="rId10"/>
    <p:sldId id="313" r:id="rId11"/>
    <p:sldId id="316" r:id="rId12"/>
    <p:sldId id="259" r:id="rId13"/>
    <p:sldId id="260" r:id="rId14"/>
    <p:sldId id="261" r:id="rId15"/>
    <p:sldId id="317" r:id="rId16"/>
    <p:sldId id="361" r:id="rId17"/>
    <p:sldId id="262" r:id="rId18"/>
    <p:sldId id="364" r:id="rId19"/>
    <p:sldId id="365" r:id="rId20"/>
    <p:sldId id="382" r:id="rId21"/>
    <p:sldId id="318" r:id="rId22"/>
    <p:sldId id="264" r:id="rId23"/>
    <p:sldId id="380" r:id="rId24"/>
    <p:sldId id="319" r:id="rId25"/>
    <p:sldId id="267" r:id="rId26"/>
    <p:sldId id="320" r:id="rId27"/>
    <p:sldId id="268" r:id="rId28"/>
    <p:sldId id="323" r:id="rId29"/>
    <p:sldId id="276" r:id="rId30"/>
    <p:sldId id="324" r:id="rId31"/>
    <p:sldId id="325" r:id="rId32"/>
    <p:sldId id="383" r:id="rId33"/>
    <p:sldId id="384" r:id="rId34"/>
    <p:sldId id="327" r:id="rId35"/>
    <p:sldId id="292" r:id="rId36"/>
    <p:sldId id="293" r:id="rId37"/>
    <p:sldId id="328" r:id="rId38"/>
    <p:sldId id="294" r:id="rId39"/>
    <p:sldId id="329" r:id="rId40"/>
    <p:sldId id="295" r:id="rId41"/>
    <p:sldId id="381" r:id="rId42"/>
    <p:sldId id="376" r:id="rId43"/>
    <p:sldId id="378" r:id="rId44"/>
    <p:sldId id="330" r:id="rId45"/>
    <p:sldId id="379" r:id="rId4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FF99"/>
    <a:srgbClr val="99FF99"/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9328-9FBD-490B-8BBC-9F7789AE9BF1}" type="datetimeFigureOut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451DC-5F89-4C7C-99EC-1B6B38A5F1A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68093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5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5130" name="Rectangle 10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73250"/>
            <a:ext cx="7772400" cy="155575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12" name="Rectangle 12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F5BA82-4F67-4072-8996-DC2270B14C4C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0F0A2-1F59-462B-86D4-338930F9D24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B4E02B-5BF0-4EDB-828F-47F5C572A5C6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A8EE09-CE56-481B-A733-DF6C8E49C926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E4339-624A-4290-8712-6A6CD46C88F0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91AF27-BE79-4C8D-A965-D9B44A6C00B5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2224C9-037B-4603-8742-6DD0128553DE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2E079D-146E-4D62-896D-74CF55299C0F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 smtClean="0"/>
              <a:t>Cliquez sur l'icône pour ajouter une image</a:t>
            </a:r>
            <a:endParaRPr lang="fr-BE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F078B3-45D7-494C-A97D-DA9FCB92280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16429-9C9F-4A0D-A52D-FAAA29886451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D3BABE-C3AC-472F-841C-39C59025552E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fr-FR" noProof="0" smtClean="0"/>
              <a:t>Cliquez sur l'icône pour ajouter un graphique</a:t>
            </a:r>
            <a:endParaRPr lang="fr-BE" noProof="0" smtClean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7E3576-FD8D-49A6-9E08-1953172E8143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3902075"/>
            <a:ext cx="3400425" cy="2949575"/>
            <a:chOff x="0" y="2458"/>
            <a:chExt cx="2142" cy="1858"/>
          </a:xfrm>
        </p:grpSpPr>
        <p:sp>
          <p:nvSpPr>
            <p:cNvPr id="4099" name="Freeform 3"/>
            <p:cNvSpPr>
              <a:spLocks/>
            </p:cNvSpPr>
            <p:nvPr/>
          </p:nvSpPr>
          <p:spPr bwMode="ltGray">
            <a:xfrm>
              <a:off x="0" y="2508"/>
              <a:ext cx="2142" cy="1804"/>
            </a:xfrm>
            <a:custGeom>
              <a:avLst/>
              <a:gdLst/>
              <a:ahLst/>
              <a:cxnLst>
                <a:cxn ang="0">
                  <a:pos x="329" y="66"/>
                </a:cxn>
                <a:cxn ang="0">
                  <a:pos x="161" y="30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161" y="42"/>
                </a:cxn>
                <a:cxn ang="0">
                  <a:pos x="323" y="78"/>
                </a:cxn>
                <a:cxn ang="0">
                  <a:pos x="556" y="150"/>
                </a:cxn>
                <a:cxn ang="0">
                  <a:pos x="777" y="245"/>
                </a:cxn>
                <a:cxn ang="0">
                  <a:pos x="993" y="365"/>
                </a:cxn>
                <a:cxn ang="0">
                  <a:pos x="1196" y="503"/>
                </a:cxn>
                <a:cxn ang="0">
                  <a:pos x="1381" y="653"/>
                </a:cxn>
                <a:cxn ang="0">
                  <a:pos x="1555" y="827"/>
                </a:cxn>
                <a:cxn ang="0">
                  <a:pos x="1710" y="1019"/>
                </a:cxn>
                <a:cxn ang="0">
                  <a:pos x="1854" y="1229"/>
                </a:cxn>
                <a:cxn ang="0">
                  <a:pos x="1937" y="1366"/>
                </a:cxn>
                <a:cxn ang="0">
                  <a:pos x="2009" y="1510"/>
                </a:cxn>
                <a:cxn ang="0">
                  <a:pos x="2069" y="1654"/>
                </a:cxn>
                <a:cxn ang="0">
                  <a:pos x="2123" y="1804"/>
                </a:cxn>
                <a:cxn ang="0">
                  <a:pos x="2135" y="1804"/>
                </a:cxn>
                <a:cxn ang="0">
                  <a:pos x="2081" y="1654"/>
                </a:cxn>
                <a:cxn ang="0">
                  <a:pos x="2021" y="1510"/>
                </a:cxn>
                <a:cxn ang="0">
                  <a:pos x="1949" y="1366"/>
                </a:cxn>
                <a:cxn ang="0">
                  <a:pos x="1866" y="1223"/>
                </a:cxn>
                <a:cxn ang="0">
                  <a:pos x="1722" y="1013"/>
                </a:cxn>
                <a:cxn ang="0">
                  <a:pos x="1561" y="821"/>
                </a:cxn>
                <a:cxn ang="0">
                  <a:pos x="1387" y="647"/>
                </a:cxn>
                <a:cxn ang="0">
                  <a:pos x="1202" y="491"/>
                </a:cxn>
                <a:cxn ang="0">
                  <a:pos x="999" y="353"/>
                </a:cxn>
                <a:cxn ang="0">
                  <a:pos x="783" y="239"/>
                </a:cxn>
                <a:cxn ang="0">
                  <a:pos x="562" y="138"/>
                </a:cxn>
                <a:cxn ang="0">
                  <a:pos x="329" y="66"/>
                </a:cxn>
                <a:cxn ang="0">
                  <a:pos x="329" y="66"/>
                </a:cxn>
              </a:cxnLst>
              <a:rect l="0" t="0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0" name="Freeform 4"/>
            <p:cNvSpPr>
              <a:spLocks/>
            </p:cNvSpPr>
            <p:nvPr/>
          </p:nvSpPr>
          <p:spPr bwMode="hidden">
            <a:xfrm>
              <a:off x="0" y="2458"/>
              <a:ext cx="1854" cy="1858"/>
            </a:xfrm>
            <a:custGeom>
              <a:avLst/>
              <a:gdLst/>
              <a:ahLst/>
              <a:cxnLst>
                <a:cxn ang="0">
                  <a:pos x="1854" y="1858"/>
                </a:cxn>
                <a:cxn ang="0">
                  <a:pos x="0" y="1858"/>
                </a:cxn>
                <a:cxn ang="0">
                  <a:pos x="0" y="0"/>
                </a:cxn>
                <a:cxn ang="0">
                  <a:pos x="1854" y="1858"/>
                </a:cxn>
                <a:cxn ang="0">
                  <a:pos x="1854" y="1858"/>
                </a:cxn>
              </a:cxnLst>
              <a:rect l="0" t="0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1" name="Freeform 5"/>
            <p:cNvSpPr>
              <a:spLocks/>
            </p:cNvSpPr>
            <p:nvPr/>
          </p:nvSpPr>
          <p:spPr bwMode="ltGray">
            <a:xfrm>
              <a:off x="0" y="2735"/>
              <a:ext cx="1745" cy="1577"/>
            </a:xfrm>
            <a:custGeom>
              <a:avLst/>
              <a:gdLst/>
              <a:ahLst/>
              <a:cxnLst>
                <a:cxn ang="0">
                  <a:pos x="1640" y="1377"/>
                </a:cxn>
                <a:cxn ang="0">
                  <a:pos x="1692" y="1479"/>
                </a:cxn>
                <a:cxn ang="0">
                  <a:pos x="1732" y="1577"/>
                </a:cxn>
                <a:cxn ang="0">
                  <a:pos x="1745" y="1577"/>
                </a:cxn>
                <a:cxn ang="0">
                  <a:pos x="1703" y="1469"/>
                </a:cxn>
                <a:cxn ang="0">
                  <a:pos x="1649" y="1367"/>
                </a:cxn>
                <a:cxn ang="0">
                  <a:pos x="1535" y="1157"/>
                </a:cxn>
                <a:cxn ang="0">
                  <a:pos x="1395" y="951"/>
                </a:cxn>
                <a:cxn ang="0">
                  <a:pos x="1236" y="756"/>
                </a:cxn>
                <a:cxn ang="0">
                  <a:pos x="1061" y="582"/>
                </a:cxn>
                <a:cxn ang="0">
                  <a:pos x="876" y="426"/>
                </a:cxn>
                <a:cxn ang="0">
                  <a:pos x="672" y="294"/>
                </a:cxn>
                <a:cxn ang="0">
                  <a:pos x="455" y="174"/>
                </a:cxn>
                <a:cxn ang="0">
                  <a:pos x="234" y="78"/>
                </a:cxn>
                <a:cxn ang="0">
                  <a:pos x="0" y="0"/>
                </a:cxn>
                <a:cxn ang="0">
                  <a:pos x="0" y="12"/>
                </a:cxn>
                <a:cxn ang="0">
                  <a:pos x="222" y="89"/>
                </a:cxn>
                <a:cxn ang="0">
                  <a:pos x="446" y="185"/>
                </a:cxn>
                <a:cxn ang="0">
                  <a:pos x="662" y="305"/>
                </a:cxn>
                <a:cxn ang="0">
                  <a:pos x="866" y="437"/>
                </a:cxn>
                <a:cxn ang="0">
                  <a:pos x="1052" y="593"/>
                </a:cxn>
                <a:cxn ang="0">
                  <a:pos x="1226" y="767"/>
                </a:cxn>
                <a:cxn ang="0">
                  <a:pos x="1385" y="960"/>
                </a:cxn>
                <a:cxn ang="0">
                  <a:pos x="1526" y="1167"/>
                </a:cxn>
                <a:cxn ang="0">
                  <a:pos x="1640" y="1377"/>
                </a:cxn>
              </a:cxnLst>
              <a:rect l="0" t="0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2" name="Freeform 6"/>
            <p:cNvSpPr>
              <a:spLocks/>
            </p:cNvSpPr>
            <p:nvPr/>
          </p:nvSpPr>
          <p:spPr bwMode="ltGray">
            <a:xfrm>
              <a:off x="0" y="2544"/>
              <a:ext cx="1745" cy="176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2"/>
                </a:cxn>
                <a:cxn ang="0">
                  <a:pos x="210" y="88"/>
                </a:cxn>
                <a:cxn ang="0">
                  <a:pos x="426" y="190"/>
                </a:cxn>
                <a:cxn ang="0">
                  <a:pos x="630" y="304"/>
                </a:cxn>
                <a:cxn ang="0">
                  <a:pos x="818" y="442"/>
                </a:cxn>
                <a:cxn ang="0">
                  <a:pos x="998" y="592"/>
                </a:cxn>
                <a:cxn ang="0">
                  <a:pos x="1164" y="766"/>
                </a:cxn>
                <a:cxn ang="0">
                  <a:pos x="1310" y="942"/>
                </a:cxn>
                <a:cxn ang="0">
                  <a:pos x="1454" y="1146"/>
                </a:cxn>
                <a:cxn ang="0">
                  <a:pos x="1536" y="1298"/>
                </a:cxn>
                <a:cxn ang="0">
                  <a:pos x="1614" y="1456"/>
                </a:cxn>
                <a:cxn ang="0">
                  <a:pos x="1682" y="1616"/>
                </a:cxn>
                <a:cxn ang="0">
                  <a:pos x="1733" y="1768"/>
                </a:cxn>
                <a:cxn ang="0">
                  <a:pos x="1745" y="1768"/>
                </a:cxn>
                <a:cxn ang="0">
                  <a:pos x="1691" y="1606"/>
                </a:cxn>
                <a:cxn ang="0">
                  <a:pos x="1623" y="1445"/>
                </a:cxn>
                <a:cxn ang="0">
                  <a:pos x="1547" y="1288"/>
                </a:cxn>
                <a:cxn ang="0">
                  <a:pos x="1463" y="1136"/>
                </a:cxn>
                <a:cxn ang="0">
                  <a:pos x="1320" y="932"/>
                </a:cxn>
                <a:cxn ang="0">
                  <a:pos x="1173" y="755"/>
                </a:cxn>
                <a:cxn ang="0">
                  <a:pos x="1008" y="581"/>
                </a:cxn>
                <a:cxn ang="0">
                  <a:pos x="827" y="431"/>
                </a:cxn>
                <a:cxn ang="0">
                  <a:pos x="642" y="293"/>
                </a:cxn>
                <a:cxn ang="0">
                  <a:pos x="437" y="179"/>
                </a:cxn>
                <a:cxn ang="0">
                  <a:pos x="222" y="7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3" name="Oval 7"/>
            <p:cNvSpPr>
              <a:spLocks noChangeArrowheads="1"/>
            </p:cNvSpPr>
            <p:nvPr/>
          </p:nvSpPr>
          <p:spPr bwMode="ltGray">
            <a:xfrm>
              <a:off x="209" y="2784"/>
              <a:ext cx="86" cy="86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4" name="Oval 8"/>
            <p:cNvSpPr>
              <a:spLocks noChangeArrowheads="1"/>
            </p:cNvSpPr>
            <p:nvPr/>
          </p:nvSpPr>
          <p:spPr bwMode="ltGray">
            <a:xfrm>
              <a:off x="1536" y="3884"/>
              <a:ext cx="92" cy="92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  <p:sp>
          <p:nvSpPr>
            <p:cNvPr id="4105" name="Oval 9"/>
            <p:cNvSpPr>
              <a:spLocks noChangeArrowheads="1"/>
            </p:cNvSpPr>
            <p:nvPr/>
          </p:nvSpPr>
          <p:spPr bwMode="ltGray">
            <a:xfrm>
              <a:off x="791" y="2723"/>
              <a:ext cx="121" cy="121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fr-BE">
                <a:latin typeface="Arial" charset="0"/>
              </a:endParaRPr>
            </a:p>
          </p:txBody>
        </p:sp>
      </p:grpSp>
      <p:sp>
        <p:nvSpPr>
          <p:cNvPr id="4106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A714D2E8-CBF2-4113-AA67-E62294802F57}" type="datetime1">
              <a:rPr lang="fr-FR" smtClean="0"/>
              <a:pPr/>
              <a:t>19/06/2025</a:t>
            </a:fld>
            <a:endParaRPr lang="fr-FR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endParaRPr lang="fr-FR"/>
          </a:p>
        </p:txBody>
      </p:sp>
      <p:sp>
        <p:nvSpPr>
          <p:cNvPr id="4110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10199"/>
                  </a:outerShdw>
                </a:effectLst>
                <a:latin typeface="Arial" charset="0"/>
              </a:defRPr>
            </a:lvl1pPr>
          </a:lstStyle>
          <a:p>
            <a:fld id="{279B6212-0A32-44AA-B44B-0E9FF9A7573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l"/>
        <a:defRPr sz="32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l"/>
        <a:defRPr sz="24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10199"/>
            </a:outerShdw>
          </a:effectLst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sz="quarter"/>
          </p:nvPr>
        </p:nvSpPr>
        <p:spPr>
          <a:xfrm>
            <a:off x="685800" y="764704"/>
            <a:ext cx="7772400" cy="1555750"/>
          </a:xfrm>
        </p:spPr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Insuffisance pulmonaire : signes et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sz="quarter" idx="1"/>
          </p:nvPr>
        </p:nvSpPr>
        <p:spPr>
          <a:xfrm>
            <a:off x="1142976" y="4556720"/>
            <a:ext cx="7286676" cy="1752600"/>
          </a:xfrm>
        </p:spPr>
        <p:txBody>
          <a:bodyPr>
            <a:normAutofit/>
          </a:bodyPr>
          <a:lstStyle/>
          <a:p>
            <a:r>
              <a:rPr lang="fr-FR" sz="2800" b="1" dirty="0" smtClean="0"/>
              <a:t>Médecin </a:t>
            </a:r>
            <a:r>
              <a:rPr lang="fr-FR" sz="2800" b="1" dirty="0" smtClean="0"/>
              <a:t>Général </a:t>
            </a:r>
            <a:r>
              <a:rPr lang="fr-FR" sz="2800" b="1" dirty="0" smtClean="0"/>
              <a:t>MIANDRISOA </a:t>
            </a:r>
            <a:r>
              <a:rPr lang="fr-FR" sz="2800" b="1" dirty="0" err="1" smtClean="0"/>
              <a:t>Rija</a:t>
            </a:r>
            <a:r>
              <a:rPr lang="fr-FR" sz="2800" b="1" dirty="0" smtClean="0"/>
              <a:t> M</a:t>
            </a:r>
          </a:p>
          <a:p>
            <a:r>
              <a:rPr lang="fr-FR" sz="2800" b="1" dirty="0" smtClean="0"/>
              <a:t> </a:t>
            </a:r>
          </a:p>
          <a:p>
            <a:r>
              <a:rPr lang="fr-FR" sz="2800" b="1" dirty="0" smtClean="0"/>
              <a:t>Professeur </a:t>
            </a:r>
            <a:r>
              <a:rPr lang="fr-FR" sz="2800" b="1" dirty="0" err="1" smtClean="0"/>
              <a:t>Nirina</a:t>
            </a:r>
            <a:r>
              <a:rPr lang="fr-FR" sz="2800" b="1" dirty="0" smtClean="0"/>
              <a:t> </a:t>
            </a:r>
            <a:r>
              <a:rPr lang="fr-FR" sz="2800" b="1" dirty="0" err="1" smtClean="0"/>
              <a:t>Rabearivony</a:t>
            </a:r>
            <a:endParaRPr lang="fr-FR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Pré - </a:t>
            </a:r>
            <a:r>
              <a:rPr lang="fr-FR" sz="3600" b="1" dirty="0" err="1" smtClean="0">
                <a:solidFill>
                  <a:srgbClr val="FFFF00"/>
                </a:solidFill>
                <a:effectLst/>
              </a:rPr>
              <a:t>recquis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Anatomie cardio-vasculaire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Séméiologie cardio-vasculaire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21571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Objectifs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Décrire les signes d’une insuffisance pulmonaire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Poser le diagnostic d’une insuffisance pulmonaire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>
                <a:solidFill>
                  <a:srgbClr val="FFFF99"/>
                </a:solidFill>
              </a:rPr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9377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  <a:effectLst/>
              </a:rPr>
              <a:t>I.1 Définition 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I.2 Intérêts</a:t>
            </a:r>
          </a:p>
          <a:p>
            <a:endParaRPr lang="fr-FR" sz="2400" b="1" dirty="0" smtClean="0">
              <a:effectLst/>
            </a:endParaRPr>
          </a:p>
          <a:p>
            <a:endParaRPr lang="fr-FR" sz="2400" b="1" dirty="0" smtClean="0">
              <a:effectLst/>
            </a:endParaRPr>
          </a:p>
          <a:p>
            <a:pPr>
              <a:buNone/>
            </a:pPr>
            <a:r>
              <a:rPr lang="fr-FR" sz="2400" b="1" dirty="0" smtClean="0">
                <a:effectLst/>
              </a:rPr>
              <a:t>I.3 Physiopathologie</a:t>
            </a:r>
            <a:endParaRPr lang="fr-FR" sz="2400" dirty="0">
              <a:effectLst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I.1 Définition 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2400" b="1" dirty="0" smtClean="0"/>
          </a:p>
          <a:p>
            <a:pPr marL="0" indent="0">
              <a:buNone/>
            </a:pPr>
            <a:endParaRPr lang="fr-FR" sz="2400" b="1" dirty="0" smtClean="0"/>
          </a:p>
          <a:p>
            <a:pPr marL="0" indent="0"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Insuffisance pulmonaire : reflux de sang des artères pulmonaires vers le VD au moment de la diastole</a:t>
            </a:r>
          </a:p>
          <a:p>
            <a:pPr lvl="0"/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6</a:t>
            </a:fld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7093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endParaRPr lang="fr-FR" sz="2400" b="1" dirty="0" smtClean="0"/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I.2 Intérêts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I.3 Physiopathologie</a:t>
            </a:r>
          </a:p>
          <a:p>
            <a:endParaRPr lang="fr-FR" sz="2400" b="1" dirty="0" smtClean="0"/>
          </a:p>
          <a:p>
            <a:endParaRPr lang="fr-FR" sz="24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7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I.2 Intérêts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530725"/>
          </a:xfrm>
        </p:spPr>
        <p:txBody>
          <a:bodyPr/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Rarement pathologique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 smtClean="0"/>
              <a:t>Une fuite importante nécessite un </a:t>
            </a:r>
            <a:r>
              <a:rPr lang="fr-FR" sz="2400" b="1" smtClean="0"/>
              <a:t>traitement chirurgical</a:t>
            </a: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8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I. Généralités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I.1 Définition 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I.2 Intérêts</a:t>
            </a:r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 smtClean="0"/>
          </a:p>
          <a:p>
            <a:endParaRPr lang="fr-FR" sz="2400" b="1" dirty="0" smtClean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I.3 Physiopathologie</a:t>
            </a: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9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I.3 Physiopathologie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22611"/>
            <a:ext cx="8229600" cy="45307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L’insuffisance valvulaire pulmonaire entraine :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Dilatation du VD</a:t>
            </a:r>
            <a:r>
              <a:rPr lang="fr-FR" sz="2400" b="1" dirty="0"/>
              <a:t> </a:t>
            </a:r>
            <a:r>
              <a:rPr lang="fr-FR" sz="2400" b="1" dirty="0" smtClean="0"/>
              <a:t>→ dysfonction systolique du VD → Insuffisance cardiaque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E64D-C656-4BC0-97A9-532CC6A9ABED}" type="slidenum">
              <a:rPr lang="fr-FR" smtClean="0">
                <a:solidFill>
                  <a:schemeClr val="tx1"/>
                </a:solidFill>
              </a:rPr>
              <a:pPr/>
              <a:t>10</a:t>
            </a:fld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90563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  <a:endParaRPr lang="fr-FR" sz="2400" dirty="0"/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 </a:t>
            </a:r>
            <a:r>
              <a:rPr lang="fr-FR" sz="2400" b="1" dirty="0">
                <a:solidFill>
                  <a:srgbClr val="FFFF99"/>
                </a:solidFill>
              </a:rPr>
              <a:t>Type de </a:t>
            </a:r>
            <a:r>
              <a:rPr lang="fr-FR" sz="2400" b="1" dirty="0" smtClean="0">
                <a:solidFill>
                  <a:srgbClr val="FFFF99"/>
                </a:solidFill>
              </a:rPr>
              <a:t>description (TDD)</a:t>
            </a:r>
            <a:r>
              <a:rPr lang="fr-FR" sz="2400" b="1" dirty="0">
                <a:solidFill>
                  <a:srgbClr val="FFFF99"/>
                </a:solidFill>
              </a:rPr>
              <a:t> </a:t>
            </a:r>
            <a:r>
              <a:rPr lang="fr-FR" sz="2400" b="1" dirty="0" smtClean="0">
                <a:solidFill>
                  <a:srgbClr val="FFFF99"/>
                </a:solidFill>
              </a:rPr>
              <a:t>: insuffisance pulmonaire secondaire à une hypertension artérielle pulmonaire (HTAP)</a:t>
            </a: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 smtClean="0"/>
          </a:p>
          <a:p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II.2 Formes cliniques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1139825"/>
          </a:xfrm>
        </p:spPr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/>
            </a:r>
            <a:br>
              <a:rPr lang="fr-FR" sz="3600" b="1" dirty="0" smtClean="0">
                <a:solidFill>
                  <a:srgbClr val="FFFF00"/>
                </a:solidFill>
                <a:effectLst/>
              </a:rPr>
            </a:br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: IP secondaire à une HTAP</a:t>
            </a:r>
            <a:r>
              <a:rPr lang="fr-FR" sz="3600" b="1" dirty="0">
                <a:solidFill>
                  <a:srgbClr val="FFFF00"/>
                </a:solidFill>
              </a:rPr>
              <a:t/>
            </a:r>
            <a:br>
              <a:rPr lang="fr-FR" sz="3600" b="1" dirty="0">
                <a:solidFill>
                  <a:srgbClr val="FFFF00"/>
                </a:solidFill>
              </a:rPr>
            </a:b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26667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II.1.1  </a:t>
            </a:r>
            <a:r>
              <a:rPr lang="fr-FR" sz="2400" b="1" dirty="0">
                <a:solidFill>
                  <a:srgbClr val="FFFF99"/>
                </a:solidFill>
              </a:rPr>
              <a:t>Circonstances de </a:t>
            </a:r>
            <a:r>
              <a:rPr lang="fr-FR" sz="2400" b="1" dirty="0" smtClean="0">
                <a:solidFill>
                  <a:srgbClr val="FFFF99"/>
                </a:solidFill>
              </a:rPr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complications</a:t>
            </a:r>
            <a:r>
              <a:rPr lang="fr-FR" sz="2400" b="1" dirty="0"/>
              <a:t>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II.1.1  Circonstances de découverte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686800" cy="4530725"/>
          </a:xfrm>
        </p:spPr>
        <p:txBody>
          <a:bodyPr>
            <a:noAutofit/>
          </a:bodyPr>
          <a:lstStyle/>
          <a:p>
            <a:pPr marL="457200" indent="-457200">
              <a:buAutoNum type="alphaLcPeriod"/>
            </a:pPr>
            <a:r>
              <a:rPr lang="fr-FR" sz="2400" b="1" dirty="0" smtClean="0">
                <a:solidFill>
                  <a:srgbClr val="FFFF99"/>
                </a:solidFill>
              </a:rPr>
              <a:t>Fortuite : </a:t>
            </a:r>
            <a:r>
              <a:rPr lang="fr-FR" sz="2400" b="1" dirty="0" smtClean="0"/>
              <a:t>lors d’un examen clinique systématique ou lors d’une échocardiographie</a:t>
            </a:r>
            <a:endParaRPr lang="fr-FR" sz="2400" b="1" dirty="0"/>
          </a:p>
          <a:p>
            <a:pPr marL="457200" indent="-457200">
              <a:buAutoNum type="alphaLcPeriod"/>
            </a:pPr>
            <a:endParaRPr lang="fr-FR" sz="2400" b="1" dirty="0" smtClean="0"/>
          </a:p>
          <a:p>
            <a:pPr marL="457200" indent="-457200">
              <a:buAutoNum type="alphaLcPeriod"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Symptômes </a:t>
            </a:r>
            <a:r>
              <a:rPr lang="fr-FR" sz="2400" b="1" dirty="0">
                <a:solidFill>
                  <a:srgbClr val="FFFF99"/>
                </a:solidFill>
              </a:rPr>
              <a:t>d’évolution </a:t>
            </a:r>
            <a:r>
              <a:rPr lang="fr-FR" sz="2400" b="1" dirty="0" smtClean="0">
                <a:solidFill>
                  <a:srgbClr val="FFFF99"/>
                </a:solidFill>
              </a:rPr>
              <a:t>progressive </a:t>
            </a: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d</a:t>
            </a:r>
            <a:r>
              <a:rPr lang="fr-FR" sz="2400" b="1" dirty="0" smtClean="0"/>
              <a:t>yspnée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b</a:t>
            </a:r>
            <a:r>
              <a:rPr lang="fr-FR" sz="2400" b="1" dirty="0" smtClean="0"/>
              <a:t>aisse de la tolérance à l’effort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s</a:t>
            </a:r>
            <a:r>
              <a:rPr lang="fr-FR" sz="2400" b="1" dirty="0" smtClean="0"/>
              <a:t>ignes d’IVD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TDD: IP secondaire à une HTAP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II.1.2 </a:t>
            </a:r>
            <a:r>
              <a:rPr lang="fr-FR" sz="2400" b="1" dirty="0">
                <a:solidFill>
                  <a:srgbClr val="FFFF99"/>
                </a:solidFill>
              </a:rPr>
              <a:t>Examen </a:t>
            </a:r>
            <a:r>
              <a:rPr lang="fr-FR" sz="2400" b="1" dirty="0" smtClean="0">
                <a:solidFill>
                  <a:srgbClr val="FFFF99"/>
                </a:solidFill>
              </a:rPr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r>
              <a:rPr lang="fr-FR" sz="2400" b="1" dirty="0" smtClean="0"/>
              <a:t>communes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 marL="457200" indent="-457200">
              <a:buAutoNum type="alphaLcPeriod"/>
            </a:pPr>
            <a:r>
              <a:rPr lang="fr-FR" sz="2400" b="1" dirty="0" smtClean="0">
                <a:solidFill>
                  <a:srgbClr val="FFFF99"/>
                </a:solidFill>
              </a:rPr>
              <a:t>Interrogatoire, rechercher:</a:t>
            </a:r>
          </a:p>
          <a:p>
            <a:pPr marL="0" indent="0"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f</a:t>
            </a:r>
            <a:r>
              <a:rPr lang="fr-FR" sz="2400" b="1" dirty="0" smtClean="0"/>
              <a:t>acteurs de risque thromboembolique (triade de VIRCHOW)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cardiopathie connue : gauche, congénitale, …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p</a:t>
            </a:r>
            <a:r>
              <a:rPr lang="fr-FR" sz="2400" b="1" dirty="0" smtClean="0"/>
              <a:t>athologies pulmonaires chroniques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m</a:t>
            </a:r>
            <a:r>
              <a:rPr lang="fr-FR" sz="2400" b="1" dirty="0" smtClean="0"/>
              <a:t>aladies systémiques inflammatoires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457200" lvl="1" indent="0">
              <a:buNone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529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Inspection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signes d’IVD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s</a:t>
            </a:r>
            <a:r>
              <a:rPr lang="fr-FR" b="1" dirty="0" smtClean="0"/>
              <a:t>ignes en faveur de l’étiologie de l’HTAP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(3)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Palpation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 smtClean="0"/>
              <a:t>signe d’IVD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b="1" dirty="0"/>
          </a:p>
          <a:p>
            <a:pPr lvl="2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b="1" dirty="0"/>
              <a:t>s</a:t>
            </a:r>
            <a:r>
              <a:rPr lang="fr-FR" b="1" dirty="0" smtClean="0"/>
              <a:t>igne en rapport avec l’étiologie de l’HTAP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43069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(4)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Souffle </a:t>
            </a:r>
            <a:r>
              <a:rPr lang="fr-FR" b="1" dirty="0" err="1" smtClean="0"/>
              <a:t>protodiastolique</a:t>
            </a:r>
            <a:r>
              <a:rPr lang="fr-FR" b="1" dirty="0" smtClean="0"/>
              <a:t> « decrescendo », haute fréquence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Maximum à la partie supérieure du bord gauche du sternum, en apnée de fin d’expiration, e, position assise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Irradiant vers le bord droit du sternum : « souffle de Graham </a:t>
            </a:r>
            <a:r>
              <a:rPr lang="fr-FR" b="1" dirty="0" err="1" smtClean="0"/>
              <a:t>Steell</a:t>
            </a:r>
            <a:r>
              <a:rPr lang="fr-FR" b="1" dirty="0" smtClean="0"/>
              <a:t> »</a:t>
            </a:r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800100" lvl="2" indent="0">
              <a:buNone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51699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II.1.2 Examen clinique (5)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b. Examen physique: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/>
              <a:t>Auscultation </a:t>
            </a:r>
            <a:endParaRPr lang="fr-FR" sz="2400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/>
          </a:p>
          <a:p>
            <a:pPr marL="1314450" lvl="2" indent="-514350">
              <a:buFont typeface="Wingdings" panose="05000000000000000000" pitchFamily="2" charset="2"/>
              <a:buChar char="Ø"/>
            </a:pPr>
            <a:endParaRPr lang="fr-FR" b="1" dirty="0" smtClean="0"/>
          </a:p>
          <a:p>
            <a:pPr marL="1314450" lvl="2" indent="-514350">
              <a:buFont typeface="Wingdings" panose="05000000000000000000" pitchFamily="2" charset="2"/>
              <a:buChar char="Ø"/>
            </a:pPr>
            <a:r>
              <a:rPr lang="fr-FR" b="1" dirty="0" smtClean="0"/>
              <a:t>Eclat de B2</a:t>
            </a:r>
          </a:p>
          <a:p>
            <a:pPr marL="800100" lvl="2" indent="0">
              <a:buNone/>
            </a:pPr>
            <a:endParaRPr lang="fr-FR" sz="2400" b="1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49239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: IP secondaire à une HTAP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II.1.3 </a:t>
            </a:r>
            <a:r>
              <a:rPr lang="fr-FR" sz="2400" b="1" dirty="0">
                <a:solidFill>
                  <a:srgbClr val="FFFF99"/>
                </a:solidFill>
              </a:rPr>
              <a:t>Examens </a:t>
            </a:r>
            <a:r>
              <a:rPr lang="fr-FR" sz="2400" b="1" dirty="0" smtClean="0">
                <a:solidFill>
                  <a:srgbClr val="FFFF99"/>
                </a:solidFill>
              </a:rPr>
              <a:t>paracliniques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II.1.4 Evolution et </a:t>
            </a:r>
            <a:r>
              <a:rPr lang="fr-FR" sz="2400" b="1" dirty="0"/>
              <a:t>complications 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>
                <a:solidFill>
                  <a:srgbClr val="FFFF99"/>
                </a:solidFill>
              </a:rPr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>
                <a:solidFill>
                  <a:srgbClr val="FFFF00"/>
                </a:solidFill>
                <a:effectLst/>
              </a:rPr>
              <a:t>a) Radiographie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thoracique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endParaRPr lang="fr-FR" sz="2400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1. Normale </a:t>
            </a:r>
            <a:r>
              <a:rPr lang="fr-FR" sz="2400" b="1" dirty="0" smtClean="0"/>
              <a:t>au début</a:t>
            </a:r>
            <a:endParaRPr lang="fr-FR" sz="2400" b="1" dirty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r>
              <a:rPr lang="fr-FR" sz="2400" b="1" dirty="0">
                <a:solidFill>
                  <a:srgbClr val="FFFF99"/>
                </a:solidFill>
              </a:rPr>
              <a:t>2. Incidence de face</a:t>
            </a:r>
            <a:r>
              <a:rPr lang="fr-FR" sz="2400" b="1" dirty="0" smtClean="0">
                <a:solidFill>
                  <a:srgbClr val="FFFF99"/>
                </a:solidFill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HVD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400" b="1" dirty="0" smtClean="0"/>
              <a:t>Dilatation AP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88340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b) </a:t>
            </a:r>
            <a:r>
              <a:rPr lang="fr-FR" sz="2400" b="1" dirty="0" smtClean="0">
                <a:solidFill>
                  <a:srgbClr val="FFFF99"/>
                </a:solidFill>
              </a:rPr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c) </a:t>
            </a:r>
            <a:r>
              <a:rPr lang="fr-FR" sz="2400" b="1" dirty="0" smtClean="0"/>
              <a:t>Échocardiographie </a:t>
            </a:r>
            <a:r>
              <a:rPr lang="fr-FR" sz="2400" b="1" dirty="0"/>
              <a:t>et Doppler </a:t>
            </a:r>
            <a:r>
              <a:rPr lang="fr-FR" sz="2400" b="1" dirty="0" smtClean="0"/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b) Électrocardiogramme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66627"/>
            <a:ext cx="8229600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HVD</a:t>
            </a:r>
          </a:p>
          <a:p>
            <a:pPr lvl="1"/>
            <a:endParaRPr lang="fr-FR" sz="2400" b="1" dirty="0" smtClean="0"/>
          </a:p>
          <a:p>
            <a:pPr lvl="1"/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25</a:t>
            </a:fld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735545"/>
            <a:ext cx="7056784" cy="3538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II.1.3 Examens paracliniques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94619"/>
            <a:ext cx="8229600" cy="4530725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AutoNum type="alphaLcParenR"/>
            </a:pPr>
            <a:r>
              <a:rPr lang="fr-FR" sz="2400" b="1" dirty="0" smtClean="0"/>
              <a:t>Radiographie thoracique</a:t>
            </a:r>
          </a:p>
          <a:p>
            <a:pPr marL="457200" indent="-457200">
              <a:lnSpc>
                <a:spcPct val="150000"/>
              </a:lnSpc>
              <a:buAutoNum type="alphaLcParenR"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/>
              <a:t>b) </a:t>
            </a:r>
            <a:r>
              <a:rPr lang="fr-FR" sz="2400" b="1" dirty="0" smtClean="0"/>
              <a:t>Électrocardiogramme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>
                <a:solidFill>
                  <a:srgbClr val="FFFF99"/>
                </a:solidFill>
              </a:rPr>
              <a:t>c) </a:t>
            </a:r>
            <a:r>
              <a:rPr lang="fr-FR" sz="2400" b="1" dirty="0" smtClean="0">
                <a:solidFill>
                  <a:srgbClr val="FFFF99"/>
                </a:solidFill>
              </a:rPr>
              <a:t>Échocardiographie </a:t>
            </a:r>
            <a:r>
              <a:rPr lang="fr-FR" sz="2400" b="1" dirty="0">
                <a:solidFill>
                  <a:srgbClr val="FFFF99"/>
                </a:solidFill>
              </a:rPr>
              <a:t>et Doppler </a:t>
            </a:r>
            <a:r>
              <a:rPr lang="fr-FR" sz="2400" b="1" dirty="0" smtClean="0">
                <a:solidFill>
                  <a:srgbClr val="FFFF99"/>
                </a:solidFill>
              </a:rPr>
              <a:t>cardiaque</a:t>
            </a:r>
          </a:p>
          <a:p>
            <a:pPr>
              <a:lnSpc>
                <a:spcPct val="150000"/>
              </a:lnSpc>
              <a:buNone/>
            </a:pPr>
            <a:endParaRPr lang="fr-FR" sz="2400" dirty="0">
              <a:solidFill>
                <a:srgbClr val="FFFF99"/>
              </a:solidFill>
            </a:endParaRPr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c) Échocardiogramme et Doppler cardiaque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426667"/>
            <a:ext cx="8229600" cy="45307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Doppler couleur : </a:t>
            </a:r>
            <a:r>
              <a:rPr lang="fr-FR" sz="2400" b="1" dirty="0" smtClean="0"/>
              <a:t>flamme rouge orangé qui nait de la zone de coaptation de la valve pulmonaire s’étendant en diastole vers le VD</a:t>
            </a:r>
          </a:p>
          <a:p>
            <a:pPr marL="0" indent="0">
              <a:buNone/>
            </a:pPr>
            <a:endParaRPr lang="fr-FR" sz="2400" b="1" dirty="0" smtClean="0"/>
          </a:p>
          <a:p>
            <a:pPr marL="514350" indent="-514350">
              <a:buNone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Doppler pulsé et continu : </a:t>
            </a:r>
            <a:r>
              <a:rPr lang="fr-FR" sz="2400" b="1" dirty="0" smtClean="0"/>
              <a:t>mesure la vitesse maximale du flux </a:t>
            </a:r>
            <a:r>
              <a:rPr lang="fr-FR" sz="2400" b="1" dirty="0" err="1" smtClean="0"/>
              <a:t>trans</a:t>
            </a:r>
            <a:r>
              <a:rPr lang="fr-FR" sz="2400" b="1" dirty="0"/>
              <a:t> </a:t>
            </a:r>
            <a:r>
              <a:rPr lang="fr-FR" sz="2400" b="1" dirty="0" smtClean="0"/>
              <a:t>valvulaire pulmonaire et des pressions dans les cavités droites</a:t>
            </a:r>
          </a:p>
          <a:p>
            <a:pPr marL="514350" indent="-514350"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marL="514350" indent="-514350">
              <a:buNone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 TDD </a:t>
            </a:r>
            <a:r>
              <a:rPr lang="fr-FR" sz="3600" b="1" dirty="0">
                <a:solidFill>
                  <a:srgbClr val="FFFF00"/>
                </a:solidFill>
                <a:effectLst/>
              </a:rPr>
              <a:t>: </a:t>
            </a:r>
            <a:r>
              <a:rPr lang="fr-FR" sz="3600" b="1" dirty="0" smtClean="0">
                <a:solidFill>
                  <a:srgbClr val="FFFF00"/>
                </a:solidFill>
                <a:effectLst/>
              </a:rPr>
              <a:t>IP secondaire à une HTAP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282651"/>
            <a:ext cx="8229600" cy="45307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400" b="1" dirty="0" smtClean="0"/>
              <a:t>II.1.1  </a:t>
            </a:r>
            <a:r>
              <a:rPr lang="fr-FR" sz="2400" b="1" dirty="0"/>
              <a:t>Circonstances de </a:t>
            </a:r>
            <a:r>
              <a:rPr lang="fr-FR" sz="2400" b="1" dirty="0" smtClean="0"/>
              <a:t>découverte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II.1.2 </a:t>
            </a:r>
            <a:r>
              <a:rPr lang="fr-FR" sz="2400" b="1" dirty="0"/>
              <a:t>Examen </a:t>
            </a:r>
            <a:r>
              <a:rPr lang="fr-FR" sz="2400" b="1" dirty="0" smtClean="0"/>
              <a:t>clinique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II.1.3 </a:t>
            </a:r>
            <a:r>
              <a:rPr lang="fr-FR" sz="2400" b="1" dirty="0"/>
              <a:t>Examens </a:t>
            </a:r>
            <a:r>
              <a:rPr lang="fr-FR" sz="2400" b="1" dirty="0" smtClean="0"/>
              <a:t>paracliniques</a:t>
            </a: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II.1.4 Evolution et complications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II.1.4 Evolution et complications 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307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marL="0" indent="0">
              <a:buNone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Insuffisance </a:t>
            </a:r>
            <a:r>
              <a:rPr lang="fr-FR" sz="2400" b="1" dirty="0"/>
              <a:t>cardiaque </a:t>
            </a: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Endocardite infectieuse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Complications en rapport avec l’étiologie</a:t>
            </a: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lvl="1">
              <a:buFont typeface="Arial" panose="020B0604020202020204" pitchFamily="34" charset="0"/>
              <a:buChar char="•"/>
            </a:pPr>
            <a:endParaRPr lang="fr-FR" sz="2400" dirty="0"/>
          </a:p>
          <a:p>
            <a:pPr>
              <a:buFont typeface="Arial" panose="020B0604020202020204" pitchFamily="34" charset="0"/>
              <a:buChar char="•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 Signes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30725"/>
          </a:xfrm>
        </p:spPr>
        <p:txBody>
          <a:bodyPr/>
          <a:lstStyle/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r>
              <a:rPr lang="fr-FR" sz="2400" b="1" dirty="0" smtClean="0"/>
              <a:t>II.1 </a:t>
            </a:r>
            <a:r>
              <a:rPr lang="fr-FR" sz="2400" b="1" dirty="0"/>
              <a:t>Type de description </a:t>
            </a:r>
            <a:r>
              <a:rPr lang="fr-FR" sz="2400" b="1" dirty="0" smtClean="0"/>
              <a:t>: IP secondaire à une HTAP</a:t>
            </a:r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II.2 Formes cliniques</a:t>
            </a:r>
            <a:endParaRPr lang="fr-FR" sz="2400" b="1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(1)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Forme selon le terrain :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Chez l’enfant : souvent en rapport avec une cardiopathie congénitale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Chez l’adulte : si IP pathologique = par cardiopathie gauche, pathologie pulmonaire chronique, …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 (2)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Forme selon le degré de la fuite :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Fuite minime : physiologique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Fuite modérée à sévère : pathologique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71943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II.2 Formes cliniques (3)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>
                <a:solidFill>
                  <a:srgbClr val="FFFF99"/>
                </a:solidFill>
              </a:rPr>
              <a:t>Forme selon l’étiologie :</a:t>
            </a:r>
          </a:p>
          <a:p>
            <a:pPr marL="0" indent="0">
              <a:buNone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Secondaire à une HTAP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Post chirurgie d’une sténose valvulaire pulmonaire( Fallot)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RAA, endocardite infectieuse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Traumatisme, syndrome carcinoïde : rares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34996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62571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 Diagnostic</a:t>
            </a:r>
          </a:p>
          <a:p>
            <a:pPr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Conclusion </a:t>
            </a: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III.1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positif</a:t>
            </a:r>
          </a:p>
          <a:p>
            <a:pPr>
              <a:buNone/>
            </a:pPr>
            <a:endParaRPr lang="fr-FR" sz="2400" b="1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b="1" dirty="0"/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III.1 Diagnostic positif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 smtClean="0"/>
              <a:t>Suspecté sur l’anamnèse et l’</a:t>
            </a:r>
            <a:r>
              <a:rPr lang="fr-FR" sz="2400" b="1" dirty="0"/>
              <a:t>e</a:t>
            </a:r>
            <a:r>
              <a:rPr lang="fr-FR" sz="2400" b="1" dirty="0" smtClean="0"/>
              <a:t>xamen clinique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Souffle </a:t>
            </a:r>
            <a:r>
              <a:rPr lang="fr-FR" sz="2400" b="1" dirty="0" err="1" smtClean="0"/>
              <a:t>protodiastolique</a:t>
            </a:r>
            <a:r>
              <a:rPr lang="fr-FR" sz="2400" b="1" dirty="0" smtClean="0"/>
              <a:t> decrescendo au foyer pulmonaire, éclat de B2</a:t>
            </a:r>
          </a:p>
          <a:p>
            <a:pPr>
              <a:buNone/>
            </a:pPr>
            <a:endParaRPr lang="fr-FR" sz="2400" b="1" dirty="0" smtClean="0"/>
          </a:p>
          <a:p>
            <a:endParaRPr lang="fr-FR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2400" b="1" dirty="0"/>
              <a:t>C</a:t>
            </a:r>
            <a:r>
              <a:rPr lang="fr-FR" sz="2400" b="1" dirty="0" smtClean="0"/>
              <a:t>onfirmé </a:t>
            </a:r>
            <a:r>
              <a:rPr lang="fr-FR" sz="2400" b="1" dirty="0"/>
              <a:t>par la paraclinique </a:t>
            </a:r>
            <a:endParaRPr lang="fr-FR" sz="2400" b="1" dirty="0" smtClean="0"/>
          </a:p>
          <a:p>
            <a:pPr lvl="1">
              <a:buFont typeface="Wingdings" pitchFamily="2" charset="2"/>
              <a:buChar char="Ø"/>
            </a:pPr>
            <a:r>
              <a:rPr lang="fr-FR" sz="2400" b="1" dirty="0"/>
              <a:t>é</a:t>
            </a:r>
            <a:r>
              <a:rPr lang="fr-FR" sz="2400" b="1" dirty="0" smtClean="0"/>
              <a:t>chocardiographie </a:t>
            </a:r>
            <a:r>
              <a:rPr lang="fr-FR" sz="2400" b="1" dirty="0"/>
              <a:t>+ </a:t>
            </a:r>
            <a:r>
              <a:rPr lang="fr-FR" sz="2400" b="1" dirty="0" smtClean="0"/>
              <a:t>doppler : reflux de sang des AP vers le VD en diastole, dilatation VD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36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b="1" dirty="0" smtClean="0"/>
          </a:p>
          <a:p>
            <a:pPr>
              <a:buNone/>
            </a:pPr>
            <a:endParaRPr lang="fr-FR" sz="2400" dirty="0" smtClean="0">
              <a:solidFill>
                <a:srgbClr val="00FF00"/>
              </a:solidFill>
            </a:endParaRPr>
          </a:p>
          <a:p>
            <a:pPr>
              <a:buNone/>
            </a:pPr>
            <a:endParaRPr lang="fr-FR" sz="2400" dirty="0">
              <a:solidFill>
                <a:srgbClr val="00FF00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III.2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différentiel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étiologique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III.2 Diagnostic différentiel </a:t>
            </a:r>
            <a:endParaRPr lang="fr-FR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850603"/>
            <a:ext cx="8229600" cy="4530725"/>
          </a:xfrm>
        </p:spPr>
        <p:txBody>
          <a:bodyPr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FFFF99"/>
                </a:solidFill>
              </a:rPr>
              <a:t>Problème </a:t>
            </a:r>
            <a:r>
              <a:rPr lang="fr-FR" sz="2400" b="1" dirty="0" smtClean="0">
                <a:solidFill>
                  <a:srgbClr val="FFFF99"/>
                </a:solidFill>
              </a:rPr>
              <a:t>interprétation </a:t>
            </a:r>
            <a:r>
              <a:rPr lang="fr-FR" sz="2400" b="1" dirty="0">
                <a:solidFill>
                  <a:srgbClr val="FFFF99"/>
                </a:solidFill>
              </a:rPr>
              <a:t>souffle </a:t>
            </a:r>
            <a:r>
              <a:rPr lang="fr-FR" sz="2400" b="1" dirty="0" smtClean="0">
                <a:solidFill>
                  <a:srgbClr val="FFFF99"/>
                </a:solidFill>
              </a:rPr>
              <a:t>diastolique</a:t>
            </a:r>
          </a:p>
          <a:p>
            <a:pPr lvl="0">
              <a:buFont typeface="Arial" panose="020B0604020202020204" pitchFamily="34" charset="0"/>
              <a:buChar char="•"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Sténose pulmonaire : souffle systolique du foyer pulmonaire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b="1" dirty="0" smtClean="0"/>
              <a:t>Insuffisance aortique : souffle diastolique, foyer aortique, n’augmente pas à l’inspiration profonde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2400" b="1" dirty="0"/>
          </a:p>
          <a:p>
            <a:pPr marL="457200" lvl="1" indent="0">
              <a:buNone/>
            </a:pPr>
            <a:r>
              <a:rPr lang="fr-FR" sz="2400" b="1" dirty="0" smtClean="0">
                <a:solidFill>
                  <a:srgbClr val="FFFF00"/>
                </a:solidFill>
              </a:rPr>
              <a:t>Dans </a:t>
            </a:r>
            <a:r>
              <a:rPr lang="fr-FR" sz="2400" b="1" dirty="0">
                <a:solidFill>
                  <a:srgbClr val="FFFF00"/>
                </a:solidFill>
              </a:rPr>
              <a:t>tous les cas: échocardiographie doppler +++</a:t>
            </a:r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 </a:t>
            </a:r>
            <a:r>
              <a:rPr lang="fr-FR" sz="2400" b="1" dirty="0">
                <a:solidFill>
                  <a:srgbClr val="FFFF99"/>
                </a:solidFill>
              </a:rPr>
              <a:t>Diagnostic </a:t>
            </a:r>
            <a:r>
              <a:rPr lang="fr-FR" sz="2400" b="1" dirty="0" smtClean="0">
                <a:solidFill>
                  <a:srgbClr val="FFFF99"/>
                </a:solidFill>
              </a:rPr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/>
              <a:t>III.4 Diagnostic de gravité</a:t>
            </a:r>
            <a:endParaRPr lang="fr-FR" sz="2400" dirty="0"/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 Diagnostic étiologique (1)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53072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III.3.1 IP physiologique :</a:t>
            </a:r>
          </a:p>
          <a:p>
            <a:pPr marL="457200" lvl="1" indent="0">
              <a:buNone/>
            </a:pPr>
            <a:endParaRPr lang="fr-FR" sz="2400" b="1" dirty="0" smtClean="0"/>
          </a:p>
          <a:p>
            <a:pPr marL="1200150" lvl="2" indent="-342900">
              <a:buFont typeface="Arial" panose="020B0604020202020204" pitchFamily="34" charset="0"/>
              <a:buChar char="•"/>
            </a:pPr>
            <a:r>
              <a:rPr lang="fr-FR" b="1" dirty="0" smtClean="0"/>
              <a:t>Quasi constante chez l’adulte</a:t>
            </a:r>
          </a:p>
          <a:p>
            <a:pPr marL="1200150" lvl="2" indent="-342900">
              <a:buFont typeface="Arial" panose="020B0604020202020204" pitchFamily="34" charset="0"/>
              <a:buChar char="•"/>
            </a:pPr>
            <a:r>
              <a:rPr lang="fr-FR" b="1" dirty="0" smtClean="0"/>
              <a:t>Fréquence augmente avec l’âge</a:t>
            </a:r>
          </a:p>
          <a:p>
            <a:pPr marL="457200" lvl="1" indent="0">
              <a:buNone/>
            </a:pPr>
            <a:endParaRPr lang="fr-FR" sz="2400" b="1" dirty="0" smtClean="0"/>
          </a:p>
          <a:p>
            <a:pPr marL="457200" lvl="1" indent="0">
              <a:buNone/>
            </a:pPr>
            <a:endParaRPr lang="fr-FR" sz="2400" b="1" dirty="0" smtClean="0"/>
          </a:p>
          <a:p>
            <a:pPr marL="457200" lvl="1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III.3.2 IP fonctionnelle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 smtClean="0"/>
              <a:t>En cas d’HTAP par dilatation de l’anneau</a:t>
            </a:r>
          </a:p>
          <a:p>
            <a:pPr marL="457200" lvl="1" indent="0">
              <a:buNone/>
            </a:pPr>
            <a:endParaRPr lang="fr-FR" sz="2400" b="1" dirty="0"/>
          </a:p>
          <a:p>
            <a:pPr marL="457200" lvl="1" indent="0">
              <a:buNone/>
            </a:pPr>
            <a:endParaRPr lang="fr-FR" sz="2400" b="1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III.3 Diagnostic étiologique (2)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78595"/>
            <a:ext cx="8229600" cy="453072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fr-FR" sz="2400" b="1" dirty="0"/>
          </a:p>
          <a:p>
            <a:pPr marL="457200" lvl="1" indent="0"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III.3.3 IP organique</a:t>
            </a:r>
          </a:p>
          <a:p>
            <a:pPr marL="457200" lvl="1" indent="0">
              <a:buNone/>
            </a:pPr>
            <a:endParaRPr lang="fr-FR" sz="2400" b="1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 smtClean="0"/>
              <a:t>Post traumatique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 smtClean="0"/>
              <a:t>Post RAA (exceptionnelle)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 smtClean="0"/>
              <a:t>Endocardite infectieuse (rare)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fr-FR" b="1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b="1" dirty="0"/>
              <a:t>C</a:t>
            </a:r>
            <a:r>
              <a:rPr lang="fr-FR" b="1" dirty="0" smtClean="0"/>
              <a:t>arcinoïdes</a:t>
            </a:r>
          </a:p>
          <a:p>
            <a:pPr marL="457200" lvl="1" indent="0">
              <a:buNone/>
            </a:pPr>
            <a:endParaRPr lang="fr-FR" sz="2400" b="1" dirty="0"/>
          </a:p>
          <a:p>
            <a:pPr>
              <a:lnSpc>
                <a:spcPct val="150000"/>
              </a:lnSpc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9517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 Diagnostic</a:t>
            </a:r>
            <a:endParaRPr lang="fr-FR" sz="3600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30725"/>
          </a:xfrm>
        </p:spPr>
        <p:txBody>
          <a:bodyPr/>
          <a:lstStyle/>
          <a:p>
            <a:pPr>
              <a:buNone/>
            </a:pPr>
            <a:r>
              <a:rPr lang="fr-FR" sz="2400" b="1" dirty="0" smtClean="0"/>
              <a:t>III.1 </a:t>
            </a:r>
            <a:r>
              <a:rPr lang="fr-FR" sz="2400" b="1" dirty="0"/>
              <a:t>Diagnostic </a:t>
            </a:r>
            <a:r>
              <a:rPr lang="fr-FR" sz="2400" b="1" dirty="0" smtClean="0"/>
              <a:t>positif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III.2 </a:t>
            </a:r>
            <a:r>
              <a:rPr lang="fr-FR" sz="2400" b="1" dirty="0"/>
              <a:t>Diagnostic </a:t>
            </a:r>
            <a:r>
              <a:rPr lang="fr-FR" sz="2400" b="1" dirty="0" smtClean="0"/>
              <a:t>différentiel</a:t>
            </a:r>
          </a:p>
          <a:p>
            <a:pPr>
              <a:buNone/>
            </a:pPr>
            <a:endParaRPr lang="fr-FR" sz="2400" dirty="0" smtClean="0"/>
          </a:p>
          <a:p>
            <a:pPr>
              <a:buNone/>
            </a:pPr>
            <a:endParaRPr lang="fr-FR" sz="2400" dirty="0"/>
          </a:p>
          <a:p>
            <a:pPr>
              <a:buNone/>
            </a:pPr>
            <a:r>
              <a:rPr lang="fr-FR" sz="2400" b="1" dirty="0" smtClean="0"/>
              <a:t>III.3 </a:t>
            </a:r>
            <a:r>
              <a:rPr lang="fr-FR" sz="2400" b="1" dirty="0"/>
              <a:t>Diagnostic </a:t>
            </a:r>
            <a:r>
              <a:rPr lang="fr-FR" sz="2400" b="1" dirty="0" smtClean="0"/>
              <a:t>étiologique</a:t>
            </a:r>
          </a:p>
          <a:p>
            <a:pPr>
              <a:buNone/>
            </a:pPr>
            <a:endParaRPr lang="fr-FR" sz="2400" b="1" dirty="0" smtClean="0">
              <a:solidFill>
                <a:srgbClr val="FFFF99"/>
              </a:solidFill>
            </a:endParaRPr>
          </a:p>
          <a:p>
            <a:pPr>
              <a:buNone/>
            </a:pPr>
            <a:endParaRPr lang="fr-FR" sz="2400" b="1" dirty="0">
              <a:solidFill>
                <a:srgbClr val="FFFF99"/>
              </a:solidFill>
            </a:endParaRPr>
          </a:p>
          <a:p>
            <a:pPr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III.4 Diagnostic de gravité</a:t>
            </a:r>
            <a:endParaRPr lang="fr-FR" sz="2400" dirty="0">
              <a:solidFill>
                <a:srgbClr val="FFFF99"/>
              </a:solidFill>
            </a:endParaRPr>
          </a:p>
          <a:p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70814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III.4 Diagnostic de gravité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6369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En rapport avec le degré de l’HTAP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Dépend de l’étiologie</a:t>
            </a: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2096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Plan 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30725"/>
          </a:xfrm>
        </p:spPr>
        <p:txBody>
          <a:bodyPr/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fr-FR" sz="2400" b="1" dirty="0" smtClean="0"/>
              <a:t>Généralités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II. Signes</a:t>
            </a:r>
          </a:p>
          <a:p>
            <a:pPr>
              <a:lnSpc>
                <a:spcPct val="150000"/>
              </a:lnSpc>
              <a:buNone/>
            </a:pPr>
            <a:endParaRPr lang="fr-FR" sz="2400" dirty="0"/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/>
              <a:t>III. Diagnostic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fr-FR" sz="2400" b="1" dirty="0" smtClean="0">
                <a:solidFill>
                  <a:srgbClr val="FFFF99"/>
                </a:solidFill>
              </a:rPr>
              <a:t>Conclusion </a:t>
            </a:r>
            <a:endParaRPr lang="fr-FR" sz="2400" dirty="0">
              <a:solidFill>
                <a:srgbClr val="FFFF99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44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b="1" dirty="0" smtClean="0">
                <a:solidFill>
                  <a:srgbClr val="FFFF00"/>
                </a:solidFill>
                <a:effectLst/>
              </a:rPr>
              <a:t>CONCLUSION</a:t>
            </a:r>
            <a:endParaRPr lang="fr-FR" sz="3600" b="1" dirty="0">
              <a:solidFill>
                <a:srgbClr val="FFFF00"/>
              </a:solidFill>
              <a:effectLst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25658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IP : fréquente mais rarement pathologique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Frontière entre IP fonctionnelle et pathologique : mal précis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 smtClean="0"/>
              <a:t>Se méfier des fuites modérées à sévères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/>
          </a:p>
          <a:p>
            <a:pPr marL="0" indent="0">
              <a:lnSpc>
                <a:spcPct val="150000"/>
              </a:lnSpc>
              <a:buNone/>
            </a:pPr>
            <a:endParaRPr lang="fr-FR" sz="2400" b="1" dirty="0" smtClean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400" b="1" dirty="0" smtClean="0"/>
          </a:p>
          <a:p>
            <a:pPr>
              <a:lnSpc>
                <a:spcPct val="150000"/>
              </a:lnSpc>
            </a:pP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B6212-0A32-44AA-B44B-0E9FF9A7573C}" type="slidenum">
              <a:rPr lang="fr-FR" smtClean="0"/>
              <a:pPr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xmlns="" val="1919217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bite">
  <a:themeElements>
    <a:clrScheme name="Orbite 1">
      <a:dk1>
        <a:srgbClr val="010199"/>
      </a:dk1>
      <a:lt1>
        <a:srgbClr val="FFFFFF"/>
      </a:lt1>
      <a:dk2>
        <a:srgbClr val="000000"/>
      </a:dk2>
      <a:lt2>
        <a:srgbClr val="B2B2B2"/>
      </a:lt2>
      <a:accent1>
        <a:srgbClr val="3399FF"/>
      </a:accent1>
      <a:accent2>
        <a:srgbClr val="666699"/>
      </a:accent2>
      <a:accent3>
        <a:srgbClr val="AAAAAA"/>
      </a:accent3>
      <a:accent4>
        <a:srgbClr val="DADADA"/>
      </a:accent4>
      <a:accent5>
        <a:srgbClr val="ADCAFF"/>
      </a:accent5>
      <a:accent6>
        <a:srgbClr val="5C5C8A"/>
      </a:accent6>
      <a:hlink>
        <a:srgbClr val="FFFFCC"/>
      </a:hlink>
      <a:folHlink>
        <a:srgbClr val="FFCC66"/>
      </a:folHlink>
    </a:clrScheme>
    <a:fontScheme name="Orbi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rbite 1">
        <a:dk1>
          <a:srgbClr val="010199"/>
        </a:dk1>
        <a:lt1>
          <a:srgbClr val="FFFFFF"/>
        </a:lt1>
        <a:dk2>
          <a:srgbClr val="000000"/>
        </a:dk2>
        <a:lt2>
          <a:srgbClr val="B2B2B2"/>
        </a:lt2>
        <a:accent1>
          <a:srgbClr val="3399FF"/>
        </a:accent1>
        <a:accent2>
          <a:srgbClr val="666699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5C5C8A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2">
        <a:dk1>
          <a:srgbClr val="008000"/>
        </a:dk1>
        <a:lt1>
          <a:srgbClr val="FFFFFF"/>
        </a:lt1>
        <a:dk2>
          <a:srgbClr val="003300"/>
        </a:dk2>
        <a:lt2>
          <a:srgbClr val="C0C0C0"/>
        </a:lt2>
        <a:accent1>
          <a:srgbClr val="99CC00"/>
        </a:accent1>
        <a:accent2>
          <a:srgbClr val="527C3A"/>
        </a:accent2>
        <a:accent3>
          <a:srgbClr val="AAADAA"/>
        </a:accent3>
        <a:accent4>
          <a:srgbClr val="DADADA"/>
        </a:accent4>
        <a:accent5>
          <a:srgbClr val="CAE2AA"/>
        </a:accent5>
        <a:accent6>
          <a:srgbClr val="497034"/>
        </a:accent6>
        <a:hlink>
          <a:srgbClr val="33CC33"/>
        </a:hlink>
        <a:folHlink>
          <a:srgbClr val="C1FF8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3">
        <a:dk1>
          <a:srgbClr val="000066"/>
        </a:dk1>
        <a:lt1>
          <a:srgbClr val="FFFFFF"/>
        </a:lt1>
        <a:dk2>
          <a:srgbClr val="000099"/>
        </a:dk2>
        <a:lt2>
          <a:srgbClr val="9FBFFF"/>
        </a:lt2>
        <a:accent1>
          <a:srgbClr val="0099CC"/>
        </a:accent1>
        <a:accent2>
          <a:srgbClr val="00CC66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00B95C"/>
        </a:accent6>
        <a:hlink>
          <a:srgbClr val="00FFFF"/>
        </a:hlink>
        <a:folHlink>
          <a:srgbClr val="CDE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4">
        <a:dk1>
          <a:srgbClr val="00ACA8"/>
        </a:dk1>
        <a:lt1>
          <a:srgbClr val="FFFFFF"/>
        </a:lt1>
        <a:dk2>
          <a:srgbClr val="006666"/>
        </a:dk2>
        <a:lt2>
          <a:srgbClr val="FFFF99"/>
        </a:lt2>
        <a:accent1>
          <a:srgbClr val="0099CC"/>
        </a:accent1>
        <a:accent2>
          <a:srgbClr val="6D6FC7"/>
        </a:accent2>
        <a:accent3>
          <a:srgbClr val="AAB8B8"/>
        </a:accent3>
        <a:accent4>
          <a:srgbClr val="DADADA"/>
        </a:accent4>
        <a:accent5>
          <a:srgbClr val="AACAE2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5">
        <a:dk1>
          <a:srgbClr val="BA0023"/>
        </a:dk1>
        <a:lt1>
          <a:srgbClr val="FFFFFF"/>
        </a:lt1>
        <a:dk2>
          <a:srgbClr val="800000"/>
        </a:dk2>
        <a:lt2>
          <a:srgbClr val="FFFF99"/>
        </a:lt2>
        <a:accent1>
          <a:srgbClr val="FF6600"/>
        </a:accent1>
        <a:accent2>
          <a:srgbClr val="C5543D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B24B36"/>
        </a:accent6>
        <a:hlink>
          <a:srgbClr val="FFFF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6">
        <a:dk1>
          <a:srgbClr val="6D776E"/>
        </a:dk1>
        <a:lt1>
          <a:srgbClr val="FFFFFF"/>
        </a:lt1>
        <a:dk2>
          <a:srgbClr val="575863"/>
        </a:dk2>
        <a:lt2>
          <a:srgbClr val="DDDDDD"/>
        </a:lt2>
        <a:accent1>
          <a:srgbClr val="0099CC"/>
        </a:accent1>
        <a:accent2>
          <a:srgbClr val="939EA9"/>
        </a:accent2>
        <a:accent3>
          <a:srgbClr val="B4B4B7"/>
        </a:accent3>
        <a:accent4>
          <a:srgbClr val="DADADA"/>
        </a:accent4>
        <a:accent5>
          <a:srgbClr val="AACAE2"/>
        </a:accent5>
        <a:accent6>
          <a:srgbClr val="858F99"/>
        </a:accent6>
        <a:hlink>
          <a:srgbClr val="FFCC00"/>
        </a:hlink>
        <a:folHlink>
          <a:srgbClr val="BD894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7">
        <a:dk1>
          <a:srgbClr val="A28A84"/>
        </a:dk1>
        <a:lt1>
          <a:srgbClr val="FFFFFF"/>
        </a:lt1>
        <a:dk2>
          <a:srgbClr val="765E58"/>
        </a:dk2>
        <a:lt2>
          <a:srgbClr val="DDDDDD"/>
        </a:lt2>
        <a:accent1>
          <a:srgbClr val="CC6600"/>
        </a:accent1>
        <a:accent2>
          <a:srgbClr val="CC9900"/>
        </a:accent2>
        <a:accent3>
          <a:srgbClr val="BDB6B4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FFCC00"/>
        </a:hlink>
        <a:folHlink>
          <a:srgbClr val="FFFFB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bite 8">
        <a:dk1>
          <a:srgbClr val="000000"/>
        </a:dk1>
        <a:lt1>
          <a:srgbClr val="C5D9ED"/>
        </a:lt1>
        <a:dk2>
          <a:srgbClr val="000000"/>
        </a:dk2>
        <a:lt2>
          <a:srgbClr val="FFFFFF"/>
        </a:lt2>
        <a:accent1>
          <a:srgbClr val="F3F6FF"/>
        </a:accent1>
        <a:accent2>
          <a:srgbClr val="33CCCC"/>
        </a:accent2>
        <a:accent3>
          <a:srgbClr val="DFE9F4"/>
        </a:accent3>
        <a:accent4>
          <a:srgbClr val="000000"/>
        </a:accent4>
        <a:accent5>
          <a:srgbClr val="F8FAFF"/>
        </a:accent5>
        <a:accent6>
          <a:srgbClr val="2DB9B9"/>
        </a:accent6>
        <a:hlink>
          <a:srgbClr val="0000FF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bite 9">
        <a:dk1>
          <a:srgbClr val="FFFFFF"/>
        </a:dk1>
        <a:lt1>
          <a:srgbClr val="FFFFFF"/>
        </a:lt1>
        <a:dk2>
          <a:srgbClr val="AAAAC6"/>
        </a:dk2>
        <a:lt2>
          <a:srgbClr val="FFFFCC"/>
        </a:lt2>
        <a:accent1>
          <a:srgbClr val="66667E"/>
        </a:accent1>
        <a:accent2>
          <a:srgbClr val="629157"/>
        </a:accent2>
        <a:accent3>
          <a:srgbClr val="D2D2DF"/>
        </a:accent3>
        <a:accent4>
          <a:srgbClr val="DADADA"/>
        </a:accent4>
        <a:accent5>
          <a:srgbClr val="B8B8C0"/>
        </a:accent5>
        <a:accent6>
          <a:srgbClr val="58834E"/>
        </a:accent6>
        <a:hlink>
          <a:srgbClr val="6600CC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DOULEURS THORACIQUES</Template>
  <TotalTime>3090</TotalTime>
  <Words>856</Words>
  <Application>Microsoft Office PowerPoint</Application>
  <PresentationFormat>Affichage à l'écran (4:3)</PresentationFormat>
  <Paragraphs>418</Paragraphs>
  <Slides>45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46" baseType="lpstr">
      <vt:lpstr>Orbite</vt:lpstr>
      <vt:lpstr>Insuffisance pulmonaire : signes et diagnostic</vt:lpstr>
      <vt:lpstr>Pré - recquis</vt:lpstr>
      <vt:lpstr>Objectifs </vt:lpstr>
      <vt:lpstr>Plan </vt:lpstr>
      <vt:lpstr>I. Généralités</vt:lpstr>
      <vt:lpstr>I.1 Définition </vt:lpstr>
      <vt:lpstr>I. Généralités</vt:lpstr>
      <vt:lpstr>I.2 Intérêts</vt:lpstr>
      <vt:lpstr>I. Généralités</vt:lpstr>
      <vt:lpstr>I.3 Physiopathologie</vt:lpstr>
      <vt:lpstr>Plan </vt:lpstr>
      <vt:lpstr>II. Signes</vt:lpstr>
      <vt:lpstr> II.1 TDD : IP secondaire à une HTAP </vt:lpstr>
      <vt:lpstr>II.1.1  Circonstances de découverte</vt:lpstr>
      <vt:lpstr>II.1 TDD: IP secondaire à une HTAP</vt:lpstr>
      <vt:lpstr>II.1.2 Examen clinique (1)</vt:lpstr>
      <vt:lpstr>II.1.2 Examen clinique (2)</vt:lpstr>
      <vt:lpstr>II.1.2 Examen clinique (3)</vt:lpstr>
      <vt:lpstr>II.1.2 Examen clinique (4)</vt:lpstr>
      <vt:lpstr>II.1.2 Examen clinique (5)</vt:lpstr>
      <vt:lpstr>II.1 TDD : IP secondaire à une HTAP</vt:lpstr>
      <vt:lpstr>II.1.3 Examens paracliniques</vt:lpstr>
      <vt:lpstr>a) Radiographie thoracique</vt:lpstr>
      <vt:lpstr>II.1.3 Examens paracliniques</vt:lpstr>
      <vt:lpstr>b) Électrocardiogramme</vt:lpstr>
      <vt:lpstr>II.1.3 Examens paracliniques</vt:lpstr>
      <vt:lpstr>c) Échocardiogramme et Doppler cardiaque</vt:lpstr>
      <vt:lpstr>II.1 TDD : IP secondaire à une HTAP</vt:lpstr>
      <vt:lpstr>II.1.4 Evolution et complications </vt:lpstr>
      <vt:lpstr>II. Signes</vt:lpstr>
      <vt:lpstr>II.2 Formes cliniques (1) </vt:lpstr>
      <vt:lpstr>II.2 Formes cliniques  (2)</vt:lpstr>
      <vt:lpstr>II.2 Formes cliniques (3) </vt:lpstr>
      <vt:lpstr>Plan </vt:lpstr>
      <vt:lpstr>III. Diagnostic</vt:lpstr>
      <vt:lpstr>III.1 Diagnostic positif</vt:lpstr>
      <vt:lpstr>III. Diagnostic</vt:lpstr>
      <vt:lpstr>III.2 Diagnostic différentiel </vt:lpstr>
      <vt:lpstr>III. Diagnostic</vt:lpstr>
      <vt:lpstr>III.3 Diagnostic étiologique (1)</vt:lpstr>
      <vt:lpstr>III.3 Diagnostic étiologique (2)</vt:lpstr>
      <vt:lpstr>III. Diagnostic</vt:lpstr>
      <vt:lpstr>III.4 Diagnostic de gravité</vt:lpstr>
      <vt:lpstr>Plan </vt:lpstr>
      <vt:lpstr>CONCLUSION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Insuffisance mitrale</dc:title>
  <dc:creator>F/H</dc:creator>
  <cp:lastModifiedBy>user</cp:lastModifiedBy>
  <cp:revision>506</cp:revision>
  <dcterms:created xsi:type="dcterms:W3CDTF">2012-08-29T02:40:21Z</dcterms:created>
  <dcterms:modified xsi:type="dcterms:W3CDTF">2025-06-19T13:37:25Z</dcterms:modified>
</cp:coreProperties>
</file>