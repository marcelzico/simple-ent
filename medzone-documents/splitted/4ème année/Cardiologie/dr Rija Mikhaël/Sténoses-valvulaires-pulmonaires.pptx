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1"/>
  </p:notesMasterIdLst>
  <p:sldIdLst>
    <p:sldId id="333" r:id="rId2"/>
    <p:sldId id="367" r:id="rId3"/>
    <p:sldId id="257" r:id="rId4"/>
    <p:sldId id="366" r:id="rId5"/>
    <p:sldId id="258" r:id="rId6"/>
    <p:sldId id="362" r:id="rId7"/>
    <p:sldId id="307" r:id="rId8"/>
    <p:sldId id="308" r:id="rId9"/>
    <p:sldId id="309" r:id="rId10"/>
    <p:sldId id="313" r:id="rId11"/>
    <p:sldId id="384" r:id="rId12"/>
    <p:sldId id="385" r:id="rId13"/>
    <p:sldId id="390" r:id="rId14"/>
    <p:sldId id="314" r:id="rId15"/>
    <p:sldId id="337" r:id="rId16"/>
    <p:sldId id="316" r:id="rId17"/>
    <p:sldId id="259" r:id="rId18"/>
    <p:sldId id="260" r:id="rId19"/>
    <p:sldId id="318" r:id="rId20"/>
    <p:sldId id="261" r:id="rId21"/>
    <p:sldId id="317" r:id="rId22"/>
    <p:sldId id="361" r:id="rId23"/>
    <p:sldId id="262" r:id="rId24"/>
    <p:sldId id="364" r:id="rId25"/>
    <p:sldId id="365" r:id="rId26"/>
    <p:sldId id="391" r:id="rId27"/>
    <p:sldId id="264" r:id="rId28"/>
    <p:sldId id="265" r:id="rId29"/>
    <p:sldId id="319" r:id="rId30"/>
    <p:sldId id="267" r:id="rId31"/>
    <p:sldId id="320" r:id="rId32"/>
    <p:sldId id="268" r:id="rId33"/>
    <p:sldId id="392" r:id="rId34"/>
    <p:sldId id="271" r:id="rId35"/>
    <p:sldId id="321" r:id="rId36"/>
    <p:sldId id="274" r:id="rId37"/>
    <p:sldId id="323" r:id="rId38"/>
    <p:sldId id="276" r:id="rId39"/>
    <p:sldId id="324" r:id="rId40"/>
    <p:sldId id="325" r:id="rId41"/>
    <p:sldId id="369" r:id="rId42"/>
    <p:sldId id="393" r:id="rId43"/>
    <p:sldId id="387" r:id="rId44"/>
    <p:sldId id="395" r:id="rId45"/>
    <p:sldId id="371" r:id="rId46"/>
    <p:sldId id="388" r:id="rId47"/>
    <p:sldId id="389" r:id="rId48"/>
    <p:sldId id="327" r:id="rId49"/>
    <p:sldId id="292" r:id="rId50"/>
    <p:sldId id="293" r:id="rId51"/>
    <p:sldId id="328" r:id="rId52"/>
    <p:sldId id="294" r:id="rId53"/>
    <p:sldId id="329" r:id="rId54"/>
    <p:sldId id="295" r:id="rId55"/>
    <p:sldId id="394" r:id="rId56"/>
    <p:sldId id="376" r:id="rId57"/>
    <p:sldId id="378" r:id="rId58"/>
    <p:sldId id="330" r:id="rId59"/>
    <p:sldId id="379" r:id="rId6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99"/>
    <a:srgbClr val="99FF99"/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39328-9FBD-490B-8BBC-9F7789AE9BF1}" type="datetimeFigureOut">
              <a:rPr lang="fr-FR" smtClean="0"/>
              <a:pPr/>
              <a:t>02/07/2025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451DC-5F89-4C7C-99EC-1B6B38A5F1A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68093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5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</p:grpSp>
      <p:sp>
        <p:nvSpPr>
          <p:cNvPr id="51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F5BA82-4F67-4072-8996-DC2270B14C4C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40F0A2-1F59-462B-86D4-338930F9D243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B4E02B-5BF0-4EDB-828F-47F5C572A5C6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A8EE09-CE56-481B-A733-DF6C8E49C926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9E4339-624A-4290-8712-6A6CD46C88F0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91AF27-BE79-4C8D-A965-D9B44A6C00B5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2224C9-037B-4603-8742-6DD0128553DE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2E079D-146E-4D62-896D-74CF55299C0F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 smtClean="0"/>
              <a:t>Cliquez sur l'icône pour ajouter une image</a:t>
            </a:r>
            <a:endParaRPr lang="fr-BE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F078B3-45D7-494C-A97D-DA9FCB922803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916429-9C9F-4A0D-A52D-FAAA29886451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D3BABE-C3AC-472F-841C-39C59025552E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re. 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fr-FR" noProof="0" smtClean="0"/>
              <a:t>Cliquez sur l'icône pour ajouter un graphique</a:t>
            </a:r>
            <a:endParaRPr lang="fr-BE" noProof="0" smtClean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7E3576-FD8D-49A6-9E08-1953172E8143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4099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0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1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2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3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4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5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</p:grpSp>
      <p:sp>
        <p:nvSpPr>
          <p:cNvPr id="4106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</a:defRPr>
            </a:lvl1pPr>
          </a:lstStyle>
          <a:p>
            <a:fld id="{A714D2E8-CBF2-4113-AA67-E62294802F57}" type="datetime1">
              <a:rPr lang="fr-FR" smtClean="0"/>
              <a:pPr/>
              <a:t>02/07/2025</a:t>
            </a:fld>
            <a:endParaRPr lang="fr-FR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</a:defRPr>
            </a:lvl1pPr>
          </a:lstStyle>
          <a:p>
            <a:endParaRPr lang="fr-FR"/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</a:defRPr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sz="quarter"/>
          </p:nvPr>
        </p:nvSpPr>
        <p:spPr>
          <a:xfrm>
            <a:off x="611560" y="764704"/>
            <a:ext cx="7846640" cy="1555750"/>
          </a:xfrm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Sténoses valvulaires pulmonaires 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 (signes 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et 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diagnostic)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sz="quarter" idx="1"/>
          </p:nvPr>
        </p:nvSpPr>
        <p:spPr>
          <a:xfrm>
            <a:off x="1142976" y="4556720"/>
            <a:ext cx="7286676" cy="1752600"/>
          </a:xfrm>
        </p:spPr>
        <p:txBody>
          <a:bodyPr>
            <a:normAutofit/>
          </a:bodyPr>
          <a:lstStyle/>
          <a:p>
            <a:r>
              <a:rPr lang="fr-FR" sz="2800" b="1" dirty="0" smtClean="0"/>
              <a:t>Dr  </a:t>
            </a:r>
            <a:r>
              <a:rPr lang="fr-FR" sz="2800" b="1" dirty="0" err="1" smtClean="0"/>
              <a:t>Rija</a:t>
            </a:r>
            <a:r>
              <a:rPr lang="fr-FR" sz="2800" b="1" dirty="0" smtClean="0"/>
              <a:t> </a:t>
            </a:r>
            <a:r>
              <a:rPr lang="fr-FR" sz="2800" b="1" dirty="0" err="1" smtClean="0"/>
              <a:t>Mikhaël</a:t>
            </a:r>
            <a:r>
              <a:rPr lang="fr-FR" sz="2800" b="1" dirty="0" smtClean="0"/>
              <a:t> MIANDRISOA</a:t>
            </a:r>
          </a:p>
          <a:p>
            <a:r>
              <a:rPr lang="fr-FR" sz="2800" b="1" dirty="0" smtClean="0"/>
              <a:t>Cardiologue- Interniste</a:t>
            </a:r>
          </a:p>
          <a:p>
            <a:r>
              <a:rPr lang="fr-FR" sz="2800" b="1" dirty="0" smtClean="0"/>
              <a:t>DGA </a:t>
            </a:r>
            <a:r>
              <a:rPr lang="fr-FR" sz="2800" b="1" dirty="0" err="1" smtClean="0"/>
              <a:t>Cenhosoa</a:t>
            </a:r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Pré - </a:t>
            </a:r>
            <a:r>
              <a:rPr lang="fr-FR" sz="3600" b="1" dirty="0" err="1" smtClean="0">
                <a:solidFill>
                  <a:srgbClr val="FFFF00"/>
                </a:solidFill>
                <a:effectLst/>
              </a:rPr>
              <a:t>recquis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82651"/>
            <a:ext cx="8229600" cy="453072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Anatomie cardio-vasculaire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Séméiologie cardio-vasculaire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21571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Objectifs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Décrire les signes d’une sténose valvulaire pulmonaire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marL="0" indent="0"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Poser le diagnostic d’une sténose valvulaire pulmonaire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3072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2400" b="1" dirty="0" smtClean="0">
                <a:solidFill>
                  <a:srgbClr val="FFFF99"/>
                </a:solidFill>
              </a:rPr>
              <a:t>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 Diagnostic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Conclusion 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9377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 Généralités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66627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  <a:effectLst/>
              </a:rPr>
              <a:t>I.1 Définition </a:t>
            </a:r>
          </a:p>
          <a:p>
            <a:endParaRPr lang="fr-FR" sz="2400" b="1" dirty="0" smtClean="0">
              <a:effectLst/>
            </a:endParaRPr>
          </a:p>
          <a:p>
            <a:endParaRPr lang="fr-FR" sz="2400" b="1" dirty="0" smtClean="0">
              <a:effectLst/>
            </a:endParaRPr>
          </a:p>
          <a:p>
            <a:pPr>
              <a:buNone/>
            </a:pPr>
            <a:r>
              <a:rPr lang="fr-FR" sz="2400" b="1" dirty="0" smtClean="0">
                <a:effectLst/>
              </a:rPr>
              <a:t>I.2 Intérêts</a:t>
            </a:r>
          </a:p>
          <a:p>
            <a:endParaRPr lang="fr-FR" sz="2400" b="1" dirty="0" smtClean="0">
              <a:effectLst/>
            </a:endParaRPr>
          </a:p>
          <a:p>
            <a:endParaRPr lang="fr-FR" sz="2400" b="1" dirty="0" smtClean="0">
              <a:effectLst/>
            </a:endParaRPr>
          </a:p>
          <a:p>
            <a:pPr>
              <a:buNone/>
            </a:pPr>
            <a:r>
              <a:rPr lang="fr-FR" sz="2400" b="1" dirty="0" smtClean="0">
                <a:effectLst/>
              </a:rPr>
              <a:t>I.3 Physiopathologie</a:t>
            </a:r>
            <a:endParaRPr lang="fr-FR" sz="2400" dirty="0">
              <a:effectLst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I.1 Définition 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Sténoses valvulaires pulmonaires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Valvulopathie congénitale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Malformations variables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Rétrécissement des sigmoïdes valvulaires pulmonaires  en systole avec un gène au passage du sang du VD vers les AP et un septum inter ventriculaire intact</a:t>
            </a:r>
          </a:p>
          <a:p>
            <a:pPr lvl="0"/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6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7093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 Généralités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/>
              <a:t>I.1 Définition </a:t>
            </a:r>
          </a:p>
          <a:p>
            <a:endParaRPr lang="fr-FR" sz="2400" b="1" dirty="0" smtClean="0"/>
          </a:p>
          <a:p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I.2 Intérêts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/>
              <a:t>I.3 Physiopathologie</a:t>
            </a:r>
          </a:p>
          <a:p>
            <a:endParaRPr lang="fr-FR" sz="2400" b="1" dirty="0" smtClean="0"/>
          </a:p>
          <a:p>
            <a:endParaRPr lang="fr-FR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7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I.2 Intérêts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530725"/>
          </a:xfrm>
        </p:spPr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fr-FR" sz="2400" b="1" dirty="0" smtClean="0"/>
              <a:t>Représente environ 9% des cardiopathies congénitales</a:t>
            </a:r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fr-FR" sz="2400" b="1" dirty="0" smtClean="0"/>
              <a:t>Diagnostic facilité par l’échocardiographie doppler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8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 Généralités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I.1 Définition 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/>
              <a:t>I.2 Intérêts</a:t>
            </a:r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 Physiopathologie</a:t>
            </a: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9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I.3 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Physiopathologie (1)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I.3.1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Classification </a:t>
            </a:r>
            <a:r>
              <a:rPr lang="fr-FR" sz="2400" b="1" dirty="0">
                <a:solidFill>
                  <a:srgbClr val="FFFF99"/>
                </a:solidFill>
                <a:effectLst/>
              </a:rPr>
              <a:t>selon les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lésions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>
                <a:effectLst/>
              </a:rPr>
              <a:t>Sténoses valvulaires pulmonaires typiques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Au moindre degré : simple fusion commissurale des sigmoïdes pulmonaires → réduction modérée de l’orifice d’éjection du VD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A un degré de plus : la fusion des valves atteint une importance critique, les valves sont épaisses et </a:t>
            </a:r>
            <a:r>
              <a:rPr lang="fr-FR" b="1" dirty="0" err="1" smtClean="0"/>
              <a:t>symphysées</a:t>
            </a:r>
            <a:r>
              <a:rPr lang="fr-FR" b="1" dirty="0" smtClean="0"/>
              <a:t> sur plusieurs millimètres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10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I.3 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Physiopathologie (2)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10643"/>
            <a:ext cx="8229600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I.3.1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Classification </a:t>
            </a:r>
            <a:r>
              <a:rPr lang="fr-FR" sz="2400" b="1" dirty="0">
                <a:solidFill>
                  <a:srgbClr val="FFFF99"/>
                </a:solidFill>
                <a:effectLst/>
              </a:rPr>
              <a:t>selon les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lésions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>
                <a:effectLst/>
              </a:rPr>
              <a:t>Sténoses valvulaires pulmonaires typiques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Au maximum de son évolution : malformation valvulaire sous forme de dôme percé d’un orifice +/- excentré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11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369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I.3 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Physiopathologie (3)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I.3.1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Classification </a:t>
            </a:r>
            <a:r>
              <a:rPr lang="fr-FR" sz="2400" b="1" dirty="0">
                <a:solidFill>
                  <a:srgbClr val="FFFF99"/>
                </a:solidFill>
                <a:effectLst/>
              </a:rPr>
              <a:t>selon les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lésions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>
                <a:effectLst/>
              </a:rPr>
              <a:t>Sténoses pulmonaires à valves dysplasiques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>
              <a:effectLst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Valve méconnaissable et très épaissie, </a:t>
            </a:r>
            <a:r>
              <a:rPr lang="fr-FR" b="1" dirty="0" err="1" smtClean="0"/>
              <a:t>myxoïde</a:t>
            </a:r>
            <a:r>
              <a:rPr lang="fr-FR" b="1" dirty="0" smtClean="0"/>
              <a:t> ou cartilagineuse (syndrome de NOONAN)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400" b="1" dirty="0" smtClean="0"/>
              <a:t>Souvent associées à une cardiomyopathie du VG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12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969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I.3 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Physiopathologie (4)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I.3.1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Classification </a:t>
            </a:r>
            <a:r>
              <a:rPr lang="fr-FR" sz="2400" b="1" dirty="0">
                <a:solidFill>
                  <a:srgbClr val="FFFF99"/>
                </a:solidFill>
                <a:effectLst/>
              </a:rPr>
              <a:t>selon les </a:t>
            </a:r>
            <a:r>
              <a:rPr lang="fr-FR" sz="2400" b="1" dirty="0" smtClean="0">
                <a:solidFill>
                  <a:srgbClr val="FFFF99"/>
                </a:solidFill>
                <a:effectLst/>
              </a:rPr>
              <a:t>lésions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>
                <a:effectLst/>
              </a:rPr>
              <a:t>Agénésie des valves pulmonaires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>
              <a:effectLst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Valve  réduite sous forme de petit bourgeon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400" b="1" dirty="0" smtClean="0"/>
              <a:t>Souvent associée à une agénésie de l’AP gauche et une AP avec dilatation monstrueuse</a:t>
            </a: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13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928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I.3 Physiopathologie (5)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498675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I.3.1 Classification selon les lésions </a:t>
            </a:r>
          </a:p>
          <a:p>
            <a:endParaRPr lang="fr-FR" sz="2400" b="1" dirty="0" smtClean="0"/>
          </a:p>
          <a:p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I.3.2 Conséquences </a:t>
            </a:r>
          </a:p>
          <a:p>
            <a:pPr>
              <a:buNone/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14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 b="1" dirty="0" smtClean="0">
                <a:solidFill>
                  <a:srgbClr val="FFFF00"/>
                </a:solidFill>
                <a:effectLst/>
              </a:rPr>
              <a:t>I.3.2 Conséquences  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6104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Augmentation de la pression intra VD → HVD concentrique → baisse compliance du VD et gène au remplissage par réduction de la cavité du VD → augmentation de l’infundibulum → sténose </a:t>
            </a:r>
            <a:r>
              <a:rPr lang="fr-FR" sz="2400" b="1" dirty="0" err="1" smtClean="0"/>
              <a:t>infundibulaire</a:t>
            </a: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En amont : ↑ pression OD 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dilatation 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En aval : dilatation de l’AP post </a:t>
            </a:r>
          </a:p>
          <a:p>
            <a:pPr marL="0" indent="0">
              <a:buNone/>
            </a:pPr>
            <a:r>
              <a:rPr lang="fr-FR" sz="2400" b="1" dirty="0" err="1" smtClean="0"/>
              <a:t>sténotique</a:t>
            </a:r>
            <a:r>
              <a:rPr lang="fr-FR" sz="2400" b="1" dirty="0" smtClean="0"/>
              <a:t> dite « en œuf »</a:t>
            </a:r>
            <a:r>
              <a:rPr lang="fr-FR" sz="2400" b="1" dirty="0"/>
              <a:t> </a:t>
            </a:r>
            <a:endParaRPr lang="fr-FR" sz="2400" b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15</a:t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384" y="3645024"/>
            <a:ext cx="3497154" cy="2603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90563"/>
            <a:ext cx="8229600" cy="453072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2400" b="1" dirty="0" smtClean="0"/>
              <a:t>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 Diagnostic</a:t>
            </a:r>
            <a:endParaRPr lang="fr-FR" sz="2400" dirty="0"/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Conclusion 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 Signes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/>
          <a:lstStyle/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 </a:t>
            </a:r>
            <a:r>
              <a:rPr lang="fr-FR" sz="2400" b="1" dirty="0">
                <a:solidFill>
                  <a:srgbClr val="FFFF99"/>
                </a:solidFill>
              </a:rPr>
              <a:t>Type de </a:t>
            </a:r>
            <a:r>
              <a:rPr lang="fr-FR" sz="2400" b="1" dirty="0" smtClean="0">
                <a:solidFill>
                  <a:srgbClr val="FFFF99"/>
                </a:solidFill>
              </a:rPr>
              <a:t>description (TDD)</a:t>
            </a:r>
            <a:r>
              <a:rPr lang="fr-FR" sz="2400" b="1" dirty="0">
                <a:solidFill>
                  <a:srgbClr val="FFFF99"/>
                </a:solidFill>
              </a:rPr>
              <a:t> : </a:t>
            </a:r>
            <a:r>
              <a:rPr lang="fr-FR" sz="2400" b="1" dirty="0" smtClean="0">
                <a:solidFill>
                  <a:srgbClr val="FFFF99"/>
                </a:solidFill>
              </a:rPr>
              <a:t>sténose valvulaire pulmonaire pure du nourrisson</a:t>
            </a:r>
          </a:p>
          <a:p>
            <a:pPr>
              <a:buNone/>
            </a:pPr>
            <a:endParaRPr lang="fr-FR" sz="2400" b="1" dirty="0" smtClean="0"/>
          </a:p>
          <a:p>
            <a:endParaRPr lang="fr-FR" sz="2400" b="1" dirty="0" smtClean="0"/>
          </a:p>
          <a:p>
            <a:endParaRPr lang="fr-FR" sz="2400" b="1" dirty="0"/>
          </a:p>
          <a:p>
            <a:pPr>
              <a:buNone/>
            </a:pPr>
            <a:r>
              <a:rPr lang="fr-FR" sz="2400" b="1" dirty="0" smtClean="0"/>
              <a:t>II.2 Formes cliniques</a:t>
            </a: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139825"/>
          </a:xfrm>
        </p:spPr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/>
            </a:r>
            <a:br>
              <a:rPr lang="fr-FR" sz="3600" b="1" dirty="0" smtClean="0">
                <a:solidFill>
                  <a:srgbClr val="FFFF00"/>
                </a:solidFill>
                <a:effectLst/>
              </a:rPr>
            </a:br>
            <a:r>
              <a:rPr lang="fr-FR" sz="3600" b="1" dirty="0" smtClean="0">
                <a:solidFill>
                  <a:srgbClr val="FFFF00"/>
                </a:solidFill>
                <a:effectLst/>
              </a:rPr>
              <a:t>II.1 TDD : sténose valvulaire pulmonaire pure du nourrisson</a:t>
            </a:r>
            <a:r>
              <a:rPr lang="fr-FR" sz="3600" b="1" dirty="0" smtClean="0">
                <a:solidFill>
                  <a:srgbClr val="FFFF00"/>
                </a:solidFill>
              </a:rPr>
              <a:t/>
            </a:r>
            <a:br>
              <a:rPr lang="fr-FR" sz="3600" b="1" dirty="0" smtClean="0">
                <a:solidFill>
                  <a:srgbClr val="FFFF00"/>
                </a:solidFill>
              </a:rPr>
            </a:b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426667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II.1.1  </a:t>
            </a:r>
            <a:r>
              <a:rPr lang="fr-FR" sz="2400" b="1" dirty="0">
                <a:solidFill>
                  <a:srgbClr val="FFFF99"/>
                </a:solidFill>
              </a:rPr>
              <a:t>Circonstances de </a:t>
            </a:r>
            <a:r>
              <a:rPr lang="fr-FR" sz="2400" b="1" dirty="0" smtClean="0">
                <a:solidFill>
                  <a:srgbClr val="FFFF99"/>
                </a:solidFill>
              </a:rPr>
              <a:t>découverte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II.1.2 </a:t>
            </a:r>
            <a:r>
              <a:rPr lang="fr-FR" sz="2400" b="1" dirty="0"/>
              <a:t>Examen </a:t>
            </a:r>
            <a:r>
              <a:rPr lang="fr-FR" sz="2400" b="1" dirty="0" smtClean="0"/>
              <a:t>clinique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II.1.3 </a:t>
            </a:r>
            <a:r>
              <a:rPr lang="fr-FR" sz="2400" b="1" dirty="0"/>
              <a:t>Examens </a:t>
            </a:r>
            <a:r>
              <a:rPr lang="fr-FR" sz="2400" b="1" dirty="0" smtClean="0"/>
              <a:t>paracliniques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II.1.4 Evolution et complications</a:t>
            </a:r>
            <a:r>
              <a:rPr lang="fr-FR" sz="2400" b="1" dirty="0"/>
              <a:t> </a:t>
            </a:r>
            <a:r>
              <a:rPr lang="fr-FR" sz="2400" b="1" dirty="0" smtClean="0"/>
              <a:t>communes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 Type de description : sténose valvulaire pure du nourrisson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/>
              <a:t>II.1.1  </a:t>
            </a:r>
            <a:r>
              <a:rPr lang="fr-FR" sz="2400" b="1" dirty="0"/>
              <a:t>Circonstances de </a:t>
            </a:r>
            <a:r>
              <a:rPr lang="fr-FR" sz="2400" b="1" dirty="0" smtClean="0"/>
              <a:t>découverte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II.1.2 </a:t>
            </a:r>
            <a:r>
              <a:rPr lang="fr-FR" sz="2400" b="1" dirty="0"/>
              <a:t>Examen </a:t>
            </a:r>
            <a:r>
              <a:rPr lang="fr-FR" sz="2400" b="1" dirty="0" smtClean="0"/>
              <a:t>clinique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II.1.3 </a:t>
            </a:r>
            <a:r>
              <a:rPr lang="fr-FR" sz="2400" b="1" dirty="0">
                <a:solidFill>
                  <a:srgbClr val="FFFF99"/>
                </a:solidFill>
              </a:rPr>
              <a:t>Examens </a:t>
            </a:r>
            <a:r>
              <a:rPr lang="fr-FR" sz="2400" b="1" dirty="0" smtClean="0">
                <a:solidFill>
                  <a:srgbClr val="FFFF99"/>
                </a:solidFill>
              </a:rPr>
              <a:t>paracliniques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II.1.4 Evolution et </a:t>
            </a:r>
            <a:r>
              <a:rPr lang="fr-FR" sz="2400" b="1" dirty="0"/>
              <a:t>complications </a:t>
            </a:r>
            <a:r>
              <a:rPr lang="fr-FR" sz="2400" b="1" dirty="0" smtClean="0"/>
              <a:t>communes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II.1.1  Circonstances de découverte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82651"/>
            <a:ext cx="8686800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a. Fortuite </a:t>
            </a:r>
            <a:r>
              <a:rPr lang="fr-FR" sz="2400" b="1" dirty="0" smtClean="0"/>
              <a:t>: examen systématique dans les 1ers mois de la </a:t>
            </a:r>
            <a:r>
              <a:rPr lang="fr-FR" sz="2400" b="1" dirty="0" smtClean="0"/>
              <a:t>vie; EPS</a:t>
            </a:r>
            <a:endParaRPr lang="fr-FR" sz="2400" b="1" dirty="0" smtClean="0"/>
          </a:p>
          <a:p>
            <a:pPr marL="457200" indent="-457200">
              <a:buAutoNum type="alphaLcPeriod"/>
            </a:pPr>
            <a:endParaRPr lang="fr-FR" sz="2400" b="1" dirty="0" smtClean="0"/>
          </a:p>
          <a:p>
            <a:pPr marL="457200" indent="-457200">
              <a:buAutoNum type="alphaLcPeriod"/>
            </a:pPr>
            <a:endParaRPr lang="fr-FR" sz="2400" b="1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Symptômes </a:t>
            </a:r>
            <a:r>
              <a:rPr lang="fr-FR" sz="2400" b="1" dirty="0">
                <a:solidFill>
                  <a:srgbClr val="FFFF99"/>
                </a:solidFill>
              </a:rPr>
              <a:t>d’évolution </a:t>
            </a:r>
            <a:r>
              <a:rPr lang="fr-FR" sz="2400" b="1" dirty="0" smtClean="0">
                <a:solidFill>
                  <a:srgbClr val="FFFF99"/>
                </a:solidFill>
              </a:rPr>
              <a:t>progressive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Signes d’insuffisance ventriculaire droite : foie cardiaque, galop droit, état d’anasarque,…</a:t>
            </a: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 TDD: sténose valvulaire pure du </a:t>
            </a:r>
            <a:r>
              <a:rPr lang="fr-FR" sz="3600" b="1" dirty="0" err="1" smtClean="0">
                <a:solidFill>
                  <a:srgbClr val="FFFF00"/>
                </a:solidFill>
                <a:effectLst/>
              </a:rPr>
              <a:t>nourisson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82651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/>
              <a:t>II.1.1  </a:t>
            </a:r>
            <a:r>
              <a:rPr lang="fr-FR" sz="2400" b="1" dirty="0"/>
              <a:t>Circonstances de </a:t>
            </a:r>
            <a:r>
              <a:rPr lang="fr-FR" sz="2400" b="1" dirty="0" smtClean="0"/>
              <a:t>découverte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II.1.2 </a:t>
            </a:r>
            <a:r>
              <a:rPr lang="fr-FR" sz="2400" b="1" dirty="0">
                <a:solidFill>
                  <a:srgbClr val="FFFF99"/>
                </a:solidFill>
              </a:rPr>
              <a:t>Examen </a:t>
            </a:r>
            <a:r>
              <a:rPr lang="fr-FR" sz="2400" b="1" dirty="0" smtClean="0">
                <a:solidFill>
                  <a:srgbClr val="FFFF99"/>
                </a:solidFill>
              </a:rPr>
              <a:t>clinique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II.1.3 </a:t>
            </a:r>
            <a:r>
              <a:rPr lang="fr-FR" sz="2400" b="1" dirty="0"/>
              <a:t>Examens </a:t>
            </a:r>
            <a:r>
              <a:rPr lang="fr-FR" sz="2400" b="1" dirty="0" smtClean="0"/>
              <a:t>paracliniques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II.1.4 Evolution et </a:t>
            </a:r>
            <a:r>
              <a:rPr lang="fr-FR" sz="2400" b="1" dirty="0"/>
              <a:t>complications </a:t>
            </a:r>
            <a:r>
              <a:rPr lang="fr-FR" sz="2400" b="1" dirty="0" smtClean="0"/>
              <a:t>communes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(1)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rmAutofit/>
          </a:bodyPr>
          <a:lstStyle/>
          <a:p>
            <a:pPr marL="457200" indent="-457200">
              <a:buAutoNum type="alphaLcPeriod"/>
            </a:pPr>
            <a:r>
              <a:rPr lang="fr-FR" sz="2400" b="1" dirty="0" smtClean="0">
                <a:solidFill>
                  <a:srgbClr val="FFFF99"/>
                </a:solidFill>
              </a:rPr>
              <a:t>Interrogatoire :</a:t>
            </a:r>
          </a:p>
          <a:p>
            <a:pPr marL="457200" indent="-457200">
              <a:buAutoNum type="alphaLcPeriod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marL="457200" indent="-457200">
              <a:buAutoNum type="alphaLcPeriod"/>
            </a:pPr>
            <a:endParaRPr lang="fr-FR" sz="2400" b="1" dirty="0">
              <a:solidFill>
                <a:srgbClr val="FFFF99"/>
              </a:solidFill>
            </a:endParaRPr>
          </a:p>
          <a:p>
            <a:pPr marL="457200" indent="-457200">
              <a:buAutoNum type="alphaLcPeriod"/>
            </a:pPr>
            <a:endParaRPr lang="fr-FR" sz="2400" b="1" dirty="0">
              <a:solidFill>
                <a:srgbClr val="FFFF99"/>
              </a:solidFill>
            </a:endParaRPr>
          </a:p>
          <a:p>
            <a:pPr marL="457200" indent="-457200">
              <a:buAutoNum type="alphaLcPeriod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Non spécifique</a:t>
            </a:r>
          </a:p>
          <a:p>
            <a:pPr marL="457200" indent="-457200">
              <a:buAutoNum type="alphaLcPeriod"/>
            </a:pPr>
            <a:endParaRPr lang="fr-FR" sz="2400" b="1" dirty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80529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(2)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 :</a:t>
            </a: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Inspection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v</a:t>
            </a:r>
            <a:r>
              <a:rPr lang="fr-FR" b="1" dirty="0" smtClean="0"/>
              <a:t>oussure précordiale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s</a:t>
            </a:r>
            <a:r>
              <a:rPr lang="fr-FR" b="1" dirty="0" smtClean="0"/>
              <a:t>ignes d’IVD : TVJ, ascite, OMI, …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(3)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 :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Palpation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Frémissement systolique : 2è ou 3è espace intercostal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signes d’IVD : reflux hépato-jugulaire, hépatomégalie sensible, ascite, …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43069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(4)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Auscultation </a:t>
            </a:r>
            <a:endParaRPr lang="fr-FR" sz="2400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/>
              <a:t>s</a:t>
            </a:r>
            <a:r>
              <a:rPr lang="fr-FR" b="1" dirty="0" smtClean="0"/>
              <a:t>ouffle systolique, timbre rude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/>
              <a:t>m</a:t>
            </a:r>
            <a:r>
              <a:rPr lang="fr-FR" b="1" dirty="0" smtClean="0"/>
              <a:t>aximal au foyer pulmonaire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 smtClean="0"/>
              <a:t>Irradiant vers le haut, à gauche, vers le dos, bord gauche du sternum et vers l’appendice xiphoïde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 smtClean="0"/>
              <a:t>Click proto systolique d’éjection au niveau du foyer pulmonaire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51699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(5)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Auscultation </a:t>
            </a: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 smtClean="0"/>
              <a:t>Dédoublement de B2 dans les formes modérées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/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 smtClean="0"/>
              <a:t>Disparition de B2 si sténose très serrée</a:t>
            </a:r>
            <a:endParaRPr lang="fr-FR" b="1" dirty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96604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>
                <a:solidFill>
                  <a:srgbClr val="FFFF99"/>
                </a:solidFill>
              </a:rPr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b) </a:t>
            </a:r>
            <a:r>
              <a:rPr lang="fr-FR" sz="2400" b="1" dirty="0" smtClean="0"/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c) </a:t>
            </a:r>
            <a:r>
              <a:rPr lang="fr-FR" sz="2400" b="1" dirty="0" smtClean="0"/>
              <a:t>Échocardiographie </a:t>
            </a:r>
            <a:r>
              <a:rPr lang="fr-FR" sz="2400" b="1" dirty="0"/>
              <a:t>et Doppler </a:t>
            </a:r>
            <a:r>
              <a:rPr lang="fr-FR" sz="2400" b="1" dirty="0" smtClean="0"/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d) Exploration hémodynamique et </a:t>
            </a:r>
            <a:r>
              <a:rPr lang="fr-FR" sz="2400" b="1" dirty="0" err="1" smtClean="0"/>
              <a:t>angiographique</a:t>
            </a:r>
            <a:endParaRPr lang="fr-FR" sz="2400" dirty="0"/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a) Radiographie thoracique 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85720" y="1412776"/>
            <a:ext cx="4862344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1. </a:t>
            </a:r>
            <a:r>
              <a:rPr lang="fr-FR" sz="2400" b="1" dirty="0" smtClean="0">
                <a:solidFill>
                  <a:srgbClr val="FFFF99"/>
                </a:solidFill>
              </a:rPr>
              <a:t>Normale </a:t>
            </a:r>
            <a:r>
              <a:rPr lang="fr-FR" sz="2400" b="1" dirty="0" smtClean="0"/>
              <a:t>au début</a:t>
            </a:r>
            <a:endParaRPr lang="fr-FR" sz="2400" b="1" dirty="0"/>
          </a:p>
          <a:p>
            <a:pPr>
              <a:buNone/>
            </a:pPr>
            <a:r>
              <a:rPr lang="fr-FR" sz="2400" b="1" dirty="0"/>
              <a:t> </a:t>
            </a:r>
          </a:p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2</a:t>
            </a:r>
            <a:r>
              <a:rPr lang="fr-FR" sz="2400" b="1" dirty="0" smtClean="0">
                <a:solidFill>
                  <a:srgbClr val="FFFF99"/>
                </a:solidFill>
              </a:rPr>
              <a:t>. Incidence de face: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smtClean="0"/>
              <a:t>Convexité de l’arc inférieur droit et la pointe du cœur est surélevé « aspect de ballon de rugby »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 smtClean="0">
                <a:solidFill>
                  <a:srgbClr val="FFFF99"/>
                </a:solidFill>
              </a:rPr>
              <a:t>Convexité de l’ arc moyen gauche</a:t>
            </a:r>
            <a:endParaRPr lang="fr-FR" b="1" dirty="0">
              <a:solidFill>
                <a:srgbClr val="FFFF99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28</a:t>
            </a:fld>
            <a:endParaRPr lang="fr-FR"/>
          </a:p>
        </p:txBody>
      </p:sp>
      <p:pic>
        <p:nvPicPr>
          <p:cNvPr id="7" name="Espace réservé du contenu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88600" y="3906837"/>
            <a:ext cx="3031872" cy="23304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600" y="1340768"/>
            <a:ext cx="3031872" cy="2448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/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FFFF99"/>
                </a:solidFill>
              </a:rPr>
              <a:t>b) </a:t>
            </a:r>
            <a:r>
              <a:rPr lang="fr-FR" sz="2400" b="1" dirty="0" smtClean="0">
                <a:solidFill>
                  <a:srgbClr val="FFFF99"/>
                </a:solidFill>
              </a:rPr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c) </a:t>
            </a:r>
            <a:r>
              <a:rPr lang="fr-FR" sz="2400" b="1" dirty="0" smtClean="0"/>
              <a:t>Échocardiographie </a:t>
            </a:r>
            <a:r>
              <a:rPr lang="fr-FR" sz="2400" b="1" dirty="0"/>
              <a:t>et Doppler </a:t>
            </a:r>
            <a:r>
              <a:rPr lang="fr-FR" sz="2400" b="1" dirty="0" smtClean="0"/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d) Exploration hémodynamique et </a:t>
            </a:r>
            <a:r>
              <a:rPr lang="fr-FR" sz="2400" b="1" dirty="0" err="1"/>
              <a:t>angiographique</a:t>
            </a: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b) Électrocardiogramme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66627"/>
            <a:ext cx="8229600" cy="4530725"/>
          </a:xfrm>
        </p:spPr>
        <p:txBody>
          <a:bodyPr/>
          <a:lstStyle/>
          <a:p>
            <a:pPr marL="514350" indent="-51435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1. Formes modérées </a:t>
            </a:r>
            <a:r>
              <a:rPr lang="fr-FR" sz="2400" b="1" dirty="0" smtClean="0"/>
              <a:t>: BBD incomplet (</a:t>
            </a:r>
            <a:r>
              <a:rPr lang="fr-FR" sz="2400" b="1" dirty="0" err="1" smtClean="0"/>
              <a:t>rSr</a:t>
            </a:r>
            <a:r>
              <a:rPr lang="fr-FR" sz="2400" b="1" dirty="0" smtClean="0"/>
              <a:t>’ en V1-V2, QRS fins)</a:t>
            </a:r>
          </a:p>
          <a:p>
            <a:pPr marL="0" indent="0">
              <a:buNone/>
            </a:pPr>
            <a:endParaRPr lang="fr-FR" sz="2400" b="1" dirty="0"/>
          </a:p>
          <a:p>
            <a:pPr marL="514350" indent="-514350">
              <a:buAutoNum type="arabicPeriod"/>
            </a:pPr>
            <a:endParaRPr lang="fr-FR" sz="2400" b="1" dirty="0"/>
          </a:p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2. </a:t>
            </a:r>
            <a:r>
              <a:rPr lang="fr-FR" sz="2400" b="1" dirty="0" smtClean="0">
                <a:solidFill>
                  <a:srgbClr val="FFFF99"/>
                </a:solidFill>
              </a:rPr>
              <a:t>Formes évoluées :</a:t>
            </a:r>
            <a:endParaRPr lang="fr-FR" sz="2400" b="1" dirty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HVD : persistance de l’onde S en V5-V6, axe dévié à droite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HAD : ondes P amples</a:t>
            </a:r>
          </a:p>
          <a:p>
            <a:pPr lvl="1"/>
            <a:endParaRPr lang="fr-FR" sz="2400" b="1" dirty="0" smtClean="0"/>
          </a:p>
          <a:p>
            <a:pPr lvl="1"/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/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b) </a:t>
            </a:r>
            <a:r>
              <a:rPr lang="fr-FR" sz="2400" b="1" dirty="0" smtClean="0"/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FFFF99"/>
                </a:solidFill>
              </a:rPr>
              <a:t>c) </a:t>
            </a:r>
            <a:r>
              <a:rPr lang="fr-FR" sz="2400" b="1" dirty="0" smtClean="0">
                <a:solidFill>
                  <a:srgbClr val="FFFF99"/>
                </a:solidFill>
              </a:rPr>
              <a:t>Échocardiographie </a:t>
            </a:r>
            <a:r>
              <a:rPr lang="fr-FR" sz="2400" b="1" dirty="0">
                <a:solidFill>
                  <a:srgbClr val="FFFF99"/>
                </a:solidFill>
              </a:rPr>
              <a:t>et Doppler </a:t>
            </a:r>
            <a:r>
              <a:rPr lang="fr-FR" sz="2400" b="1" dirty="0" smtClean="0">
                <a:solidFill>
                  <a:srgbClr val="FFFF99"/>
                </a:solidFill>
              </a:rPr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d) Exploration hémodynamique et </a:t>
            </a:r>
            <a:r>
              <a:rPr lang="fr-FR" sz="2400" b="1" dirty="0" err="1"/>
              <a:t>angiographique</a:t>
            </a: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c) Échocardiogramme et Doppler cardiaque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530725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Echocardiographie :</a:t>
            </a:r>
            <a:endParaRPr lang="fr-FR" sz="2400" b="1" dirty="0">
              <a:solidFill>
                <a:srgbClr val="FFFF99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Image en dôme de l’appareil valvulaire +/- épaissi dessinant une convexité en systole dans le tronc de l’artère pulmonaire dilatée en systole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Limitation du jeu valvulaire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Septum inter ventriculaire plat si pression intra VD basse, et convexité vers le VG si pression élevée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c) Échocardiogramme et Doppler cardiaque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50768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Echocardiographie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HVD concentrique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/>
              <a:t>M</a:t>
            </a:r>
            <a:r>
              <a:rPr lang="fr-FR" sz="2400" b="1" dirty="0" smtClean="0"/>
              <a:t>esure l’épaisseur des parois , </a:t>
            </a:r>
            <a:endParaRPr lang="fr-FR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fonction systolique du VD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OD hypertrophiée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VG normal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Recherche de malformations </a:t>
            </a:r>
          </a:p>
          <a:p>
            <a:pPr marL="457200" lvl="1" indent="0">
              <a:buNone/>
            </a:pPr>
            <a:r>
              <a:rPr lang="fr-FR" sz="2400" b="1" dirty="0" smtClean="0"/>
              <a:t>associées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33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1846696"/>
            <a:ext cx="3275856" cy="381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5655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2. Doppler cardiaque 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17712"/>
            <a:ext cx="8075240" cy="4835624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Doppler continu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 smtClean="0"/>
              <a:t>Mesure la pression intra VD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Doppler pulsée avec couleur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 smtClean="0"/>
              <a:t>Évalue </a:t>
            </a:r>
            <a:r>
              <a:rPr lang="fr-FR" b="1" dirty="0"/>
              <a:t>le jet systolique turbulent dans </a:t>
            </a:r>
            <a:r>
              <a:rPr lang="fr-FR" b="1" dirty="0" smtClean="0"/>
              <a:t>l’AP : aspect en mosaïque jaune-vert « aliasing »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b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 smtClean="0"/>
              <a:t>Apprécie le degré d’IT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fr-FR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 smtClean="0"/>
              <a:t>Recherche de shunt gauche – droite à l’étage auriculaire</a:t>
            </a:r>
            <a:endParaRPr lang="fr-FR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/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b) </a:t>
            </a:r>
            <a:r>
              <a:rPr lang="fr-FR" sz="2400" b="1" dirty="0" smtClean="0"/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c) </a:t>
            </a:r>
            <a:r>
              <a:rPr lang="fr-FR" sz="2400" b="1" dirty="0" smtClean="0"/>
              <a:t>Échocardiographie </a:t>
            </a:r>
            <a:r>
              <a:rPr lang="fr-FR" sz="2400" b="1" dirty="0"/>
              <a:t>et Doppler </a:t>
            </a:r>
            <a:r>
              <a:rPr lang="fr-FR" sz="2400" b="1" dirty="0" smtClean="0"/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FFFF99"/>
                </a:solidFill>
              </a:rPr>
              <a:t>d) Exploration hémodynamique et </a:t>
            </a:r>
            <a:r>
              <a:rPr lang="fr-FR" sz="2400" b="1" dirty="0" err="1">
                <a:solidFill>
                  <a:srgbClr val="FFFF99"/>
                </a:solidFill>
              </a:rPr>
              <a:t>angiographique</a:t>
            </a: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</a:pP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d) Exploration hémodynamique et </a:t>
            </a:r>
            <a:r>
              <a:rPr lang="fr-FR" sz="3600" b="1" dirty="0" err="1" smtClean="0">
                <a:solidFill>
                  <a:srgbClr val="FFFF00"/>
                </a:solidFill>
                <a:effectLst/>
              </a:rPr>
              <a:t>angiographique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5554960" cy="4925144"/>
          </a:xfrm>
        </p:spPr>
        <p:txBody>
          <a:bodyPr>
            <a:noAutofit/>
          </a:bodyPr>
          <a:lstStyle/>
          <a:p>
            <a:pPr marL="365125" indent="-365125">
              <a:buFont typeface="Wingdings" pitchFamily="2" charset="2"/>
              <a:buChar char="Ø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Ventriculographie : </a:t>
            </a:r>
          </a:p>
          <a:p>
            <a:pPr marL="765175" lvl="1" indent="-365125">
              <a:buFont typeface="Wingdings" pitchFamily="2" charset="2"/>
              <a:buChar char="Ø"/>
            </a:pPr>
            <a:r>
              <a:rPr lang="fr-FR" sz="2400" b="1" dirty="0" smtClean="0"/>
              <a:t>précise la réduction de la cavité du VD qui se vide en systole, quantifie l’IT</a:t>
            </a:r>
          </a:p>
          <a:p>
            <a:pPr marL="765175" lvl="1" indent="-365125">
              <a:buFont typeface="Wingdings" pitchFamily="2" charset="2"/>
              <a:buChar char="Ø"/>
            </a:pPr>
            <a:endParaRPr lang="fr-FR" sz="2400" b="1" dirty="0" smtClean="0"/>
          </a:p>
          <a:p>
            <a:pPr marL="765175" lvl="1" indent="-365125">
              <a:buFont typeface="Wingdings" pitchFamily="2" charset="2"/>
              <a:buChar char="Ø"/>
            </a:pPr>
            <a:r>
              <a:rPr lang="fr-FR" sz="2400" b="1" dirty="0" smtClean="0"/>
              <a:t>Image typique : « dôme gicleur » bombant vers l’AP</a:t>
            </a:r>
          </a:p>
          <a:p>
            <a:pPr marL="365125" indent="-365125">
              <a:buNone/>
            </a:pPr>
            <a:endParaRPr lang="fr-F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Angiographie </a:t>
            </a:r>
            <a:r>
              <a:rPr lang="fr-FR" sz="2400" b="1" dirty="0" smtClean="0"/>
              <a:t>: étudie la voie artérielle pulmonaire et apprécie sa dilatation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36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2276872"/>
            <a:ext cx="3131840" cy="34563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 TDD </a:t>
            </a:r>
            <a:r>
              <a:rPr lang="fr-FR" sz="3600" b="1" dirty="0">
                <a:solidFill>
                  <a:srgbClr val="FFFF00"/>
                </a:solidFill>
                <a:effectLst/>
              </a:rPr>
              <a:t>: 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sténose pulmonaire pure du nourrisson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82651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/>
              <a:t>II.1.1  </a:t>
            </a:r>
            <a:r>
              <a:rPr lang="fr-FR" sz="2400" b="1" dirty="0"/>
              <a:t>Circonstances de </a:t>
            </a:r>
            <a:r>
              <a:rPr lang="fr-FR" sz="2400" b="1" dirty="0" smtClean="0"/>
              <a:t>découverte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II.1.2 </a:t>
            </a:r>
            <a:r>
              <a:rPr lang="fr-FR" sz="2400" b="1" dirty="0"/>
              <a:t>Examen </a:t>
            </a:r>
            <a:r>
              <a:rPr lang="fr-FR" sz="2400" b="1" dirty="0" smtClean="0"/>
              <a:t>clinique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II.1.3 </a:t>
            </a:r>
            <a:r>
              <a:rPr lang="fr-FR" sz="2400" b="1" dirty="0"/>
              <a:t>Examens </a:t>
            </a:r>
            <a:r>
              <a:rPr lang="fr-FR" sz="2400" b="1" dirty="0" smtClean="0"/>
              <a:t>paracliniques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II.1.4 Evolution et complications </a:t>
            </a:r>
            <a:endParaRPr lang="fr-FR" sz="2400" dirty="0">
              <a:solidFill>
                <a:srgbClr val="FFFF99"/>
              </a:solidFill>
            </a:endParaRP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II.1.4 Evolution et complications 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2776"/>
            <a:ext cx="8435280" cy="453072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S</a:t>
            </a:r>
            <a:r>
              <a:rPr lang="fr-FR" sz="2400" b="1" dirty="0" smtClean="0"/>
              <a:t>ténose </a:t>
            </a:r>
            <a:r>
              <a:rPr lang="fr-FR" sz="2400" b="1" dirty="0"/>
              <a:t>modérée : </a:t>
            </a:r>
            <a:r>
              <a:rPr lang="fr-FR" sz="2400" b="1" dirty="0" smtClean="0"/>
              <a:t>longtemps </a:t>
            </a:r>
            <a:r>
              <a:rPr lang="fr-FR" sz="2400" b="1" dirty="0"/>
              <a:t>bien </a:t>
            </a:r>
            <a:r>
              <a:rPr lang="fr-FR" sz="2400" b="1" dirty="0" smtClean="0"/>
              <a:t>tolérée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Sténose serrée 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IVD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AVC et abcès cérébraux avec le shunt droit-gauche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Endocardite infectieuse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Troubles du rythme : extra systoles supra ventriculaires sans signification péjorative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Mort suite : exceptionnelle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marL="0" indent="0">
              <a:buNone/>
            </a:pPr>
            <a:r>
              <a:rPr lang="fr-FR" sz="2400" dirty="0" smtClean="0">
                <a:sym typeface="Wingdings" pitchFamily="2" charset="2"/>
              </a:rPr>
              <a:t>	</a:t>
            </a: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endParaRPr lang="fr-FR" sz="2400" dirty="0"/>
          </a:p>
          <a:p>
            <a:pPr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 Signes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30725"/>
          </a:xfrm>
        </p:spPr>
        <p:txBody>
          <a:bodyPr/>
          <a:lstStyle/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r>
              <a:rPr lang="fr-FR" sz="2400" b="1" dirty="0" smtClean="0"/>
              <a:t>II.1 </a:t>
            </a:r>
            <a:r>
              <a:rPr lang="fr-FR" sz="2400" b="1" dirty="0"/>
              <a:t>Type de description : </a:t>
            </a:r>
            <a:r>
              <a:rPr lang="fr-FR" sz="2400" b="1" dirty="0" smtClean="0"/>
              <a:t>sténose valvulaire pure du </a:t>
            </a:r>
            <a:r>
              <a:rPr lang="fr-FR" sz="2400" b="1" dirty="0" err="1" smtClean="0"/>
              <a:t>nourisson</a:t>
            </a:r>
            <a:endParaRPr lang="fr-FR" sz="2400" dirty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00"/>
                </a:solidFill>
              </a:rPr>
              <a:t>II.2 Formes cliniques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(1)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II.2.1 </a:t>
            </a:r>
            <a:r>
              <a:rPr lang="fr-FR" sz="2400" b="1" dirty="0"/>
              <a:t>Formes </a:t>
            </a:r>
            <a:r>
              <a:rPr lang="fr-FR" sz="2400" b="1" dirty="0" smtClean="0"/>
              <a:t>selon le terrain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r>
              <a:rPr lang="fr-FR" sz="2400" b="1" dirty="0" smtClean="0"/>
              <a:t>II.2.2 Formes mineurs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II.2.3 Formes sévères du nouveau-né</a:t>
            </a:r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r>
              <a:rPr lang="fr-FR" sz="2400" b="1" dirty="0" smtClean="0"/>
              <a:t>II.2.3 Formes avec shunt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(2)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II.2.1 </a:t>
            </a:r>
            <a:r>
              <a:rPr lang="fr-FR" sz="2400" b="1" dirty="0">
                <a:solidFill>
                  <a:srgbClr val="FFFF99"/>
                </a:solidFill>
              </a:rPr>
              <a:t>Formes </a:t>
            </a:r>
            <a:r>
              <a:rPr lang="fr-FR" sz="2400" b="1" dirty="0" smtClean="0">
                <a:solidFill>
                  <a:srgbClr val="FFFF99"/>
                </a:solidFill>
              </a:rPr>
              <a:t>selon le terrain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Atypie clinique, radiologiques, ECG et échographique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marL="0" indent="0">
              <a:buNone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Souffle moins intense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65741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(3)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II.2.1 </a:t>
            </a:r>
            <a:r>
              <a:rPr lang="fr-FR" sz="2400" b="1" dirty="0">
                <a:solidFill>
                  <a:srgbClr val="FFFF99"/>
                </a:solidFill>
              </a:rPr>
              <a:t>Formes </a:t>
            </a:r>
            <a:r>
              <a:rPr lang="fr-FR" sz="2400" b="1" dirty="0" smtClean="0">
                <a:solidFill>
                  <a:srgbClr val="FFFF99"/>
                </a:solidFill>
              </a:rPr>
              <a:t>selon le terrain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Radiographie : arc moyen gauche plat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ECG : axe hyper gauche ou hyper droit, pas d’HVD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Echo doppler cardiaque : hypertrophie septale, valve épaisse, AP de taille normale, aorte dilaté et VG déformé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5219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(4)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II.2.1 </a:t>
            </a:r>
            <a:r>
              <a:rPr lang="fr-FR" sz="2400" b="1" dirty="0">
                <a:solidFill>
                  <a:srgbClr val="FFFF99"/>
                </a:solidFill>
              </a:rPr>
              <a:t>Formes </a:t>
            </a:r>
            <a:r>
              <a:rPr lang="fr-FR" sz="2400" b="1" dirty="0" smtClean="0">
                <a:solidFill>
                  <a:srgbClr val="FFFF99"/>
                </a:solidFill>
              </a:rPr>
              <a:t>selon le terrain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Causes 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Syndrome de NOONAN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Syndrome de LEOPARD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Syndrome des taches de café de WATSON</a:t>
            </a:r>
          </a:p>
          <a:p>
            <a:pPr>
              <a:buNone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06422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</a:t>
            </a:r>
            <a:r>
              <a:rPr lang="fr-FR" sz="3600" b="1" dirty="0">
                <a:solidFill>
                  <a:srgbClr val="FFFF00"/>
                </a:solidFill>
                <a:effectLst/>
              </a:rPr>
              <a:t>5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44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20" y="1268760"/>
            <a:ext cx="3276600" cy="4562475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708992" y="6130925"/>
            <a:ext cx="299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SYNDROME DE NOONAN</a:t>
            </a:r>
            <a:endParaRPr lang="fr-FR" b="1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626" y="1417638"/>
            <a:ext cx="3333750" cy="44196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4621088" y="6130925"/>
            <a:ext cx="3335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SYNDROME DE LEOPARD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xmlns="" val="100801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(6)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II.2.2 </a:t>
            </a:r>
            <a:r>
              <a:rPr lang="fr-FR" sz="2400" b="1" dirty="0">
                <a:solidFill>
                  <a:srgbClr val="FFFF99"/>
                </a:solidFill>
              </a:rPr>
              <a:t>Formes </a:t>
            </a:r>
            <a:r>
              <a:rPr lang="fr-FR" sz="2400" b="1" dirty="0" smtClean="0">
                <a:solidFill>
                  <a:srgbClr val="FFFF99"/>
                </a:solidFill>
              </a:rPr>
              <a:t>mineurs</a:t>
            </a:r>
            <a:endParaRPr lang="fr-FR" sz="2400" b="1" dirty="0" smtClean="0"/>
          </a:p>
          <a:p>
            <a:pPr marL="457200" lvl="1" indent="0">
              <a:buNone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Souffle bref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ECG : BBD incomplet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Radiographie : arc moyen gauche saillant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Echo doppler cardiaque : valve en aspect d’un dôme très largement évasé sans gicleur</a:t>
            </a:r>
            <a:endParaRPr lang="fr-FR" sz="2400" b="1" dirty="0"/>
          </a:p>
          <a:p>
            <a:pPr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99616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(7)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II.2.3 </a:t>
            </a:r>
            <a:r>
              <a:rPr lang="fr-FR" sz="2400" b="1" dirty="0">
                <a:solidFill>
                  <a:srgbClr val="FFFF99"/>
                </a:solidFill>
              </a:rPr>
              <a:t>Formes </a:t>
            </a:r>
            <a:r>
              <a:rPr lang="fr-FR" sz="2400" b="1" dirty="0" smtClean="0">
                <a:solidFill>
                  <a:srgbClr val="FFFF99"/>
                </a:solidFill>
              </a:rPr>
              <a:t>sévères du nouveau-né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Grave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Clinique : polypnée, hépatomégalie, souffle systolique </a:t>
            </a:r>
            <a:r>
              <a:rPr lang="fr-FR" sz="2400" b="1" dirty="0" err="1" smtClean="0"/>
              <a:t>éjectionnel</a:t>
            </a:r>
            <a:r>
              <a:rPr lang="fr-FR" sz="2400" b="1" dirty="0" smtClean="0"/>
              <a:t> foyer pulmonaire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ECG: HAD et HVD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Radiographie : cardiomégalie en forme de « ballon de rugby »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Echo doppler cardiaque : sténose valvulaire pulmonaire sévère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3416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(8)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II.2.4 </a:t>
            </a:r>
            <a:r>
              <a:rPr lang="fr-FR" sz="2400" b="1" dirty="0">
                <a:solidFill>
                  <a:srgbClr val="FFFF99"/>
                </a:solidFill>
              </a:rPr>
              <a:t>Formes </a:t>
            </a:r>
            <a:r>
              <a:rPr lang="fr-FR" sz="2400" b="1" dirty="0" smtClean="0">
                <a:solidFill>
                  <a:srgbClr val="FFFF99"/>
                </a:solidFill>
              </a:rPr>
              <a:t>avec shunt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Associée à une CIV, </a:t>
            </a:r>
            <a:r>
              <a:rPr lang="fr-FR" sz="2400" b="1" dirty="0" err="1" smtClean="0"/>
              <a:t>dextroposition</a:t>
            </a:r>
            <a:r>
              <a:rPr lang="fr-FR" sz="2400" b="1" dirty="0" smtClean="0"/>
              <a:t> de l’aorte et HVD ( Fallot) Shunt D-G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Associée à un canal artériel persistant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Associée à une CIV avec shunt gauche-droit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Associée à une CIA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39530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62571"/>
            <a:ext cx="8229600" cy="453072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2400" b="1" dirty="0" smtClean="0"/>
              <a:t>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 Diagnostic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Conclusion 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III.1 </a:t>
            </a:r>
            <a:r>
              <a:rPr lang="fr-FR" sz="2400" b="1" dirty="0">
                <a:solidFill>
                  <a:srgbClr val="FFFF99"/>
                </a:solidFill>
              </a:rPr>
              <a:t>Diagnostic </a:t>
            </a:r>
            <a:r>
              <a:rPr lang="fr-FR" sz="2400" b="1" dirty="0" smtClean="0">
                <a:solidFill>
                  <a:srgbClr val="FFFF99"/>
                </a:solidFill>
              </a:rPr>
              <a:t>positif</a:t>
            </a:r>
          </a:p>
          <a:p>
            <a:pPr>
              <a:buNone/>
            </a:pPr>
            <a:endParaRPr lang="fr-FR" sz="2400" b="1" dirty="0" smtClean="0">
              <a:solidFill>
                <a:srgbClr val="00FF00"/>
              </a:solidFill>
            </a:endParaRP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III.2 </a:t>
            </a:r>
            <a:r>
              <a:rPr lang="fr-FR" sz="2400" b="1" dirty="0"/>
              <a:t>Diagnostic </a:t>
            </a:r>
            <a:r>
              <a:rPr lang="fr-FR" sz="2400" b="1" dirty="0" smtClean="0"/>
              <a:t>différentiel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III.3 </a:t>
            </a:r>
            <a:r>
              <a:rPr lang="fr-FR" sz="2400" b="1" dirty="0"/>
              <a:t>Diagnostic </a:t>
            </a:r>
            <a:r>
              <a:rPr lang="fr-FR" sz="2400" b="1" dirty="0" smtClean="0"/>
              <a:t>étiologique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r>
              <a:rPr lang="fr-FR" sz="2400" b="1" dirty="0" smtClean="0"/>
              <a:t>III.4 Diagnostic de gravité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III.1 Diagnostic positif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S</a:t>
            </a:r>
            <a:r>
              <a:rPr lang="fr-FR" sz="2400" b="1" dirty="0" smtClean="0"/>
              <a:t>e </a:t>
            </a:r>
            <a:r>
              <a:rPr lang="fr-FR" sz="2400" b="1" dirty="0"/>
              <a:t>pose devant la </a:t>
            </a:r>
            <a:r>
              <a:rPr lang="fr-FR" sz="2400" b="1" dirty="0" smtClean="0"/>
              <a:t>clinique</a:t>
            </a:r>
          </a:p>
          <a:p>
            <a:pPr lvl="1">
              <a:buFont typeface="Wingdings" pitchFamily="2" charset="2"/>
              <a:buChar char="Ø"/>
            </a:pPr>
            <a:r>
              <a:rPr lang="fr-FR" sz="2400" b="1" dirty="0"/>
              <a:t>S</a:t>
            </a:r>
            <a:r>
              <a:rPr lang="fr-FR" sz="2400" b="1" dirty="0" smtClean="0"/>
              <a:t>ouffle systolique foyer </a:t>
            </a:r>
            <a:r>
              <a:rPr lang="fr-FR" sz="2400" b="1" dirty="0"/>
              <a:t> </a:t>
            </a:r>
            <a:r>
              <a:rPr lang="fr-FR" sz="2400" b="1" dirty="0" smtClean="0"/>
              <a:t>pulmonaire</a:t>
            </a:r>
          </a:p>
          <a:p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C</a:t>
            </a:r>
            <a:r>
              <a:rPr lang="fr-FR" sz="2400" b="1" dirty="0" smtClean="0"/>
              <a:t>onfirmé </a:t>
            </a:r>
            <a:r>
              <a:rPr lang="fr-FR" sz="2400" b="1" dirty="0"/>
              <a:t>par la paraclinique </a:t>
            </a:r>
            <a:endParaRPr lang="fr-FR" sz="2400" b="1" dirty="0" smtClean="0"/>
          </a:p>
          <a:p>
            <a:pPr lvl="1">
              <a:buFont typeface="Wingdings" pitchFamily="2" charset="2"/>
              <a:buChar char="Ø"/>
            </a:pPr>
            <a:r>
              <a:rPr lang="fr-FR" sz="2400" b="1" dirty="0" smtClean="0"/>
              <a:t>Echocardiographie </a:t>
            </a:r>
            <a:r>
              <a:rPr lang="fr-FR" sz="2400" b="1" dirty="0"/>
              <a:t>+ </a:t>
            </a:r>
            <a:r>
              <a:rPr lang="fr-FR" sz="2400" b="1" dirty="0" smtClean="0"/>
              <a:t>doppler : sténose valvulaire pulmonaire, gradient de pression VD </a:t>
            </a:r>
            <a:r>
              <a:rPr lang="fr-FR" sz="2400" b="1" dirty="0" smtClean="0">
                <a:sym typeface="Wingdings" pitchFamily="2" charset="2"/>
              </a:rPr>
              <a:t> AP</a:t>
            </a:r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/>
              <a:t>III.1 </a:t>
            </a:r>
            <a:r>
              <a:rPr lang="fr-FR" sz="2400" b="1" dirty="0"/>
              <a:t>Diagnostic </a:t>
            </a:r>
            <a:r>
              <a:rPr lang="fr-FR" sz="2400" b="1" dirty="0" smtClean="0"/>
              <a:t>positif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>
              <a:solidFill>
                <a:srgbClr val="00FF00"/>
              </a:solidFill>
            </a:endParaRPr>
          </a:p>
          <a:p>
            <a:pPr>
              <a:buNone/>
            </a:pPr>
            <a:endParaRPr lang="fr-FR" sz="2400" dirty="0">
              <a:solidFill>
                <a:srgbClr val="00FF00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III.2 </a:t>
            </a:r>
            <a:r>
              <a:rPr lang="fr-FR" sz="2400" b="1" dirty="0">
                <a:solidFill>
                  <a:srgbClr val="FFFF99"/>
                </a:solidFill>
              </a:rPr>
              <a:t>Diagnostic </a:t>
            </a:r>
            <a:r>
              <a:rPr lang="fr-FR" sz="2400" b="1" dirty="0" smtClean="0">
                <a:solidFill>
                  <a:srgbClr val="FFFF99"/>
                </a:solidFill>
              </a:rPr>
              <a:t>différentiel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III.3 </a:t>
            </a:r>
            <a:r>
              <a:rPr lang="fr-FR" sz="2400" b="1" dirty="0"/>
              <a:t>Diagnostic étiologique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III.2 Diagnostic différentiel </a:t>
            </a:r>
            <a:endParaRPr lang="fr-FR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90563"/>
            <a:ext cx="8229600" cy="4530725"/>
          </a:xfrm>
        </p:spPr>
        <p:txBody>
          <a:bodyPr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FFFF99"/>
                </a:solidFill>
              </a:rPr>
              <a:t>Problème </a:t>
            </a:r>
            <a:r>
              <a:rPr lang="fr-FR" sz="2400" b="1" dirty="0" smtClean="0">
                <a:solidFill>
                  <a:srgbClr val="FFFF99"/>
                </a:solidFill>
              </a:rPr>
              <a:t>interprétation </a:t>
            </a:r>
            <a:r>
              <a:rPr lang="fr-FR" sz="2400" b="1" dirty="0">
                <a:solidFill>
                  <a:srgbClr val="FFFF99"/>
                </a:solidFill>
              </a:rPr>
              <a:t>souffle </a:t>
            </a:r>
            <a:r>
              <a:rPr lang="fr-FR" sz="2400" b="1" dirty="0" smtClean="0">
                <a:solidFill>
                  <a:srgbClr val="FFFF99"/>
                </a:solidFill>
              </a:rPr>
              <a:t>systolique</a:t>
            </a:r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/>
              <a:t>I</a:t>
            </a:r>
            <a:r>
              <a:rPr lang="fr-FR" sz="2400" b="1" dirty="0" smtClean="0"/>
              <a:t>nsuffisance mitrale : souffle systolique en jet de vapeur, maximum à l’apex, irradiation axillaire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/>
              <a:t>R</a:t>
            </a:r>
            <a:r>
              <a:rPr lang="fr-FR" sz="2400" b="1" dirty="0" smtClean="0"/>
              <a:t>étrécissement aortique : </a:t>
            </a:r>
            <a:r>
              <a:rPr lang="fr-FR" sz="2400" b="1" dirty="0"/>
              <a:t>souffle </a:t>
            </a:r>
            <a:r>
              <a:rPr lang="fr-FR" sz="2400" b="1" dirty="0" err="1"/>
              <a:t>éjectionnel</a:t>
            </a:r>
            <a:r>
              <a:rPr lang="fr-FR" sz="2400" b="1" dirty="0"/>
              <a:t>, </a:t>
            </a:r>
            <a:r>
              <a:rPr lang="fr-FR" sz="2400" b="1" dirty="0" err="1"/>
              <a:t>mésosystolique</a:t>
            </a:r>
            <a:r>
              <a:rPr lang="fr-FR" sz="2400" b="1" dirty="0"/>
              <a:t>, augmentant après les diastoles </a:t>
            </a:r>
            <a:r>
              <a:rPr lang="fr-FR" sz="2400" b="1" dirty="0" smtClean="0"/>
              <a:t>longues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marL="457200" lvl="1" indent="0">
              <a:buNone/>
            </a:pPr>
            <a:r>
              <a:rPr lang="fr-FR" sz="2400" b="1" dirty="0">
                <a:solidFill>
                  <a:srgbClr val="FFFF00"/>
                </a:solidFill>
              </a:rPr>
              <a:t>Dans tous les cas: échocardiographie doppler +++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III.1 </a:t>
            </a:r>
            <a:r>
              <a:rPr lang="fr-FR" sz="2400" b="1" dirty="0"/>
              <a:t>Diagnostic </a:t>
            </a:r>
            <a:r>
              <a:rPr lang="fr-FR" sz="2400" b="1" dirty="0" smtClean="0"/>
              <a:t>positif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III.2 </a:t>
            </a:r>
            <a:r>
              <a:rPr lang="fr-FR" sz="2400" b="1" dirty="0"/>
              <a:t>Diagnostic </a:t>
            </a:r>
            <a:r>
              <a:rPr lang="fr-FR" sz="2400" b="1" dirty="0" smtClean="0"/>
              <a:t>différentiel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III.3 </a:t>
            </a:r>
            <a:r>
              <a:rPr lang="fr-FR" sz="2400" b="1" dirty="0">
                <a:solidFill>
                  <a:srgbClr val="FFFF99"/>
                </a:solidFill>
              </a:rPr>
              <a:t>Diagnostic </a:t>
            </a:r>
            <a:r>
              <a:rPr lang="fr-FR" sz="2400" b="1" dirty="0" smtClean="0">
                <a:solidFill>
                  <a:srgbClr val="FFFF99"/>
                </a:solidFill>
              </a:rPr>
              <a:t>étiologique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/>
              <a:t>III.4 Diagnostic de gravité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 Diagnostic étiologique (1)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10307"/>
            <a:ext cx="8229600" cy="539529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II.2.1 Formes </a:t>
            </a:r>
            <a:r>
              <a:rPr lang="fr-FR" sz="2400" b="1" dirty="0" smtClean="0">
                <a:solidFill>
                  <a:srgbClr val="FFFF99"/>
                </a:solidFill>
              </a:rPr>
              <a:t>avec </a:t>
            </a:r>
            <a:r>
              <a:rPr lang="fr-FR" sz="2400" b="1" dirty="0" err="1" smtClean="0">
                <a:solidFill>
                  <a:srgbClr val="FFFF99"/>
                </a:solidFill>
              </a:rPr>
              <a:t>polymalformations</a:t>
            </a:r>
            <a:endParaRPr lang="fr-FR" sz="2400" b="1" dirty="0">
              <a:solidFill>
                <a:srgbClr val="FFFF99"/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Syndrome de NOONAN : </a:t>
            </a:r>
            <a:r>
              <a:rPr lang="fr-FR" sz="2400" b="1" dirty="0" err="1" smtClean="0"/>
              <a:t>polymalformatif</a:t>
            </a:r>
            <a:r>
              <a:rPr lang="fr-FR" sz="2400" b="1" dirty="0" smtClean="0"/>
              <a:t> (retard statural et mental, atteinte génito-urinaire, …) avec dysmorphie cranio-faciale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Syndrome de LEOPARD: acronyme: taches mélaniques, trouble </a:t>
            </a:r>
            <a:r>
              <a:rPr lang="fr-FR" sz="2400" b="1" dirty="0" err="1" smtClean="0"/>
              <a:t>conductif</a:t>
            </a:r>
            <a:r>
              <a:rPr lang="fr-FR" sz="2400" b="1" dirty="0" smtClean="0"/>
              <a:t> à l’ECG, hypertélorisme, sténose pulmonaire, hypospadias, retard de croissance et surdité de perception</a:t>
            </a: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 Diagnostic étiologique (2)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II.2.2 Formes mineurs</a:t>
            </a: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dirty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II.2.3 Formes sévères du nouveau-né</a:t>
            </a: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II.2.3 Formes avec shunt</a:t>
            </a: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30713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III.1 </a:t>
            </a:r>
            <a:r>
              <a:rPr lang="fr-FR" sz="2400" b="1" dirty="0"/>
              <a:t>Diagnostic </a:t>
            </a:r>
            <a:r>
              <a:rPr lang="fr-FR" sz="2400" b="1" dirty="0" smtClean="0"/>
              <a:t>positif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III.2 </a:t>
            </a:r>
            <a:r>
              <a:rPr lang="fr-FR" sz="2400" b="1" dirty="0"/>
              <a:t>Diagnostic </a:t>
            </a:r>
            <a:r>
              <a:rPr lang="fr-FR" sz="2400" b="1" dirty="0" smtClean="0"/>
              <a:t>différentiel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III.3 </a:t>
            </a:r>
            <a:r>
              <a:rPr lang="fr-FR" sz="2400" b="1" dirty="0"/>
              <a:t>Diagnostic </a:t>
            </a:r>
            <a:r>
              <a:rPr lang="fr-FR" sz="2400" b="1" dirty="0" smtClean="0"/>
              <a:t>étiologique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III.4 Diagnostic de gravité</a:t>
            </a:r>
            <a:endParaRPr lang="fr-FR" sz="2400" dirty="0">
              <a:solidFill>
                <a:srgbClr val="FFFF99"/>
              </a:solidFill>
            </a:endParaRP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70814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III.4 Diagnostic de gravité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0192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Selon la sévérité de la sténose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Selon l’étiologie : forme sévère du nouveau né et forme associée à un shunt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Selon l’</a:t>
            </a:r>
            <a:r>
              <a:rPr lang="fr-FR" sz="2400" b="1" dirty="0"/>
              <a:t>e</a:t>
            </a:r>
            <a:r>
              <a:rPr lang="fr-FR" sz="2400" b="1" dirty="0" smtClean="0"/>
              <a:t>xistence des complications</a:t>
            </a:r>
            <a:endParaRPr lang="fr-FR" sz="2400" b="1" dirty="0"/>
          </a:p>
          <a:p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2096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3072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 smtClean="0"/>
              <a:t>I. 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 Diagnostic</a:t>
            </a: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Conclusion </a:t>
            </a:r>
            <a:endParaRPr lang="fr-FR" sz="2400" dirty="0">
              <a:solidFill>
                <a:srgbClr val="FFFF99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CONCLUSION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5658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/>
              <a:t>Cardiopathie </a:t>
            </a:r>
            <a:r>
              <a:rPr lang="fr-FR" sz="2400" b="1" dirty="0" smtClean="0"/>
              <a:t>congénitale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Fréquente</a:t>
            </a: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Longtemps bien tolérée en cas de sténoses modérées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</a:pPr>
            <a:endParaRPr lang="fr-FR" sz="2400" b="1" dirty="0"/>
          </a:p>
          <a:p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91921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rbite">
  <a:themeElements>
    <a:clrScheme name="Orbite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rbite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e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DOULEURS THORACIQUES</Template>
  <TotalTime>3387</TotalTime>
  <Words>1494</Words>
  <Application>Microsoft Office PowerPoint</Application>
  <PresentationFormat>Affichage à l'écran (4:3)</PresentationFormat>
  <Paragraphs>563</Paragraphs>
  <Slides>59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59</vt:i4>
      </vt:variant>
    </vt:vector>
  </HeadingPairs>
  <TitlesOfParts>
    <vt:vector size="60" baseType="lpstr">
      <vt:lpstr>Orbite</vt:lpstr>
      <vt:lpstr>Sténoses valvulaires pulmonaires  (signes et diagnostic)</vt:lpstr>
      <vt:lpstr>Pré - recquis</vt:lpstr>
      <vt:lpstr>Objectifs </vt:lpstr>
      <vt:lpstr>Plan </vt:lpstr>
      <vt:lpstr>I. Généralités</vt:lpstr>
      <vt:lpstr>I.1 Définition </vt:lpstr>
      <vt:lpstr>I. Généralités</vt:lpstr>
      <vt:lpstr>I.2 Intérêts</vt:lpstr>
      <vt:lpstr>I. Généralités</vt:lpstr>
      <vt:lpstr>I.3 Physiopathologie (1)</vt:lpstr>
      <vt:lpstr>I.3 Physiopathologie (2)</vt:lpstr>
      <vt:lpstr>I.3 Physiopathologie (3)</vt:lpstr>
      <vt:lpstr>I.3 Physiopathologie (4)</vt:lpstr>
      <vt:lpstr>I.3 Physiopathologie (5)</vt:lpstr>
      <vt:lpstr>I.3.2 Conséquences  </vt:lpstr>
      <vt:lpstr>Plan </vt:lpstr>
      <vt:lpstr>II. Signes</vt:lpstr>
      <vt:lpstr> II.1 TDD : sténose valvulaire pulmonaire pure du nourrisson </vt:lpstr>
      <vt:lpstr>II.1 Type de description : sténose valvulaire pure du nourrisson</vt:lpstr>
      <vt:lpstr>II.1.1  Circonstances de découverte</vt:lpstr>
      <vt:lpstr>II.1 TDD: sténose valvulaire pure du nourisson</vt:lpstr>
      <vt:lpstr>II.1.2 Examen clinique (1)</vt:lpstr>
      <vt:lpstr>II.1.2 Examen clinique (2)</vt:lpstr>
      <vt:lpstr>II.1.2 Examen clinique (3)</vt:lpstr>
      <vt:lpstr>II.1.2 Examen clinique (4)</vt:lpstr>
      <vt:lpstr>II.1.2 Examen clinique (5)</vt:lpstr>
      <vt:lpstr>II.1.3 Examens paracliniques</vt:lpstr>
      <vt:lpstr>a) Radiographie thoracique </vt:lpstr>
      <vt:lpstr>II.1.3 Examens paracliniques</vt:lpstr>
      <vt:lpstr>b) Électrocardiogramme</vt:lpstr>
      <vt:lpstr>II.1.3 Examens paracliniques</vt:lpstr>
      <vt:lpstr>c) Échocardiogramme et Doppler cardiaque</vt:lpstr>
      <vt:lpstr>c) Échocardiogramme et Doppler cardiaque</vt:lpstr>
      <vt:lpstr>2. Doppler cardiaque </vt:lpstr>
      <vt:lpstr>II.1.3 Examens paracliniques</vt:lpstr>
      <vt:lpstr>d) Exploration hémodynamique et angiographique</vt:lpstr>
      <vt:lpstr>II.1 TDD : sténose pulmonaire pure du nourrisson</vt:lpstr>
      <vt:lpstr>II.1.4 Evolution et complications </vt:lpstr>
      <vt:lpstr>II. Signes</vt:lpstr>
      <vt:lpstr>II.2 Formes cliniques (1)</vt:lpstr>
      <vt:lpstr>II.2 Formes cliniques (2)</vt:lpstr>
      <vt:lpstr>II.2 Formes cliniques (3)</vt:lpstr>
      <vt:lpstr>II.2 Formes cliniques (4)</vt:lpstr>
      <vt:lpstr>II.2 Formes cliniques (5)</vt:lpstr>
      <vt:lpstr>II.2 Formes cliniques (6)</vt:lpstr>
      <vt:lpstr>II.2 Formes cliniques (7)</vt:lpstr>
      <vt:lpstr>II.2 Formes cliniques (8)</vt:lpstr>
      <vt:lpstr>Plan </vt:lpstr>
      <vt:lpstr>III. Diagnostic</vt:lpstr>
      <vt:lpstr>III.1 Diagnostic positif</vt:lpstr>
      <vt:lpstr>III. Diagnostic</vt:lpstr>
      <vt:lpstr>III.2 Diagnostic différentiel </vt:lpstr>
      <vt:lpstr>III. Diagnostic</vt:lpstr>
      <vt:lpstr>III.3 Diagnostic étiologique (1)</vt:lpstr>
      <vt:lpstr>III.3 Diagnostic étiologique (2)</vt:lpstr>
      <vt:lpstr>III. Diagnostic</vt:lpstr>
      <vt:lpstr>III.4 Diagnostic de gravité</vt:lpstr>
      <vt:lpstr>Plan </vt:lpstr>
      <vt:lpstr>CONCLUSION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Insuffisance mitrale</dc:title>
  <dc:creator>F/H</dc:creator>
  <cp:lastModifiedBy>user</cp:lastModifiedBy>
  <cp:revision>563</cp:revision>
  <dcterms:created xsi:type="dcterms:W3CDTF">2012-08-29T02:40:21Z</dcterms:created>
  <dcterms:modified xsi:type="dcterms:W3CDTF">2025-07-02T11:55:03Z</dcterms:modified>
</cp:coreProperties>
</file>